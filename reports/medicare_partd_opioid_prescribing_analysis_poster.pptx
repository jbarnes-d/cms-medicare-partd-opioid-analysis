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4"/>
  </p:sldMasterIdLst>
  <p:notesMasterIdLst>
    <p:notesMasterId r:id="rId6"/>
  </p:notesMasterIdLst>
  <p:sldIdLst>
    <p:sldId id="256" r:id="rId5"/>
  </p:sldIdLst>
  <p:sldSz cx="38404800" cy="43891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3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054"/>
    <p:restoredTop sz="94714"/>
  </p:normalViewPr>
  <p:slideViewPr>
    <p:cSldViewPr snapToGrid="0">
      <p:cViewPr>
        <p:scale>
          <a:sx n="20" d="100"/>
          <a:sy n="20" d="100"/>
        </p:scale>
        <p:origin x="808"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8A3F7C-1D15-0745-A580-FF5017D9F57E}" type="datetimeFigureOut">
              <a:rPr lang="en-US" smtClean="0"/>
              <a:t>7/13/26</a:t>
            </a:fld>
            <a:endParaRPr lang="en-US"/>
          </a:p>
        </p:txBody>
      </p:sp>
      <p:sp>
        <p:nvSpPr>
          <p:cNvPr id="4" name="Slide Image Placeholder 3"/>
          <p:cNvSpPr>
            <a:spLocks noGrp="1" noRot="1" noChangeAspect="1"/>
          </p:cNvSpPr>
          <p:nvPr>
            <p:ph type="sldImg" idx="2"/>
          </p:nvPr>
        </p:nvSpPr>
        <p:spPr>
          <a:xfrm>
            <a:off x="2078038" y="1143000"/>
            <a:ext cx="27019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4A1D58-84B2-9B4E-BEE8-A63F9666320C}" type="slidenum">
              <a:rPr lang="en-US" smtClean="0"/>
              <a:t>‹#›</a:t>
            </a:fld>
            <a:endParaRPr lang="en-US"/>
          </a:p>
        </p:txBody>
      </p:sp>
    </p:spTree>
    <p:extLst>
      <p:ext uri="{BB962C8B-B14F-4D97-AF65-F5344CB8AC3E}">
        <p14:creationId xmlns:p14="http://schemas.microsoft.com/office/powerpoint/2010/main" val="584211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4A1D58-84B2-9B4E-BEE8-A63F9666320C}" type="slidenum">
              <a:rPr lang="en-US" smtClean="0"/>
              <a:t>1</a:t>
            </a:fld>
            <a:endParaRPr lang="en-US"/>
          </a:p>
        </p:txBody>
      </p:sp>
    </p:spTree>
    <p:extLst>
      <p:ext uri="{BB962C8B-B14F-4D97-AF65-F5344CB8AC3E}">
        <p14:creationId xmlns:p14="http://schemas.microsoft.com/office/powerpoint/2010/main" val="29747740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7183123"/>
            <a:ext cx="32644080" cy="15280640"/>
          </a:xfrm>
        </p:spPr>
        <p:txBody>
          <a:bodyPr anchor="b"/>
          <a:lstStyle>
            <a:lvl1pPr algn="ctr">
              <a:defRPr sz="25200"/>
            </a:lvl1pPr>
          </a:lstStyle>
          <a:p>
            <a:r>
              <a:rPr lang="en-US"/>
              <a:t>Click to edit Master title style</a:t>
            </a:r>
          </a:p>
        </p:txBody>
      </p:sp>
      <p:sp>
        <p:nvSpPr>
          <p:cNvPr id="3" name="Subtitle 2"/>
          <p:cNvSpPr>
            <a:spLocks noGrp="1"/>
          </p:cNvSpPr>
          <p:nvPr>
            <p:ph type="subTitle" idx="1"/>
          </p:nvPr>
        </p:nvSpPr>
        <p:spPr>
          <a:xfrm>
            <a:off x="4800600" y="23053043"/>
            <a:ext cx="28803600" cy="1059687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p>
        </p:txBody>
      </p:sp>
      <p:sp>
        <p:nvSpPr>
          <p:cNvPr id="4" name="Date Placeholder 3"/>
          <p:cNvSpPr>
            <a:spLocks noGrp="1"/>
          </p:cNvSpPr>
          <p:nvPr>
            <p:ph type="dt" sz="half" idx="10"/>
          </p:nvPr>
        </p:nvSpPr>
        <p:spPr/>
        <p:txBody>
          <a:bodyPr/>
          <a:lstStyle/>
          <a:p>
            <a:fld id="{381BDC38-0637-4A4F-BCBC-4AF793E02F82}"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39322248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81BDC38-0637-4A4F-BCBC-4AF793E02F82}"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29594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10942333"/>
            <a:ext cx="33124140" cy="18257517"/>
          </a:xfrm>
        </p:spPr>
        <p:txBody>
          <a:bodyPr anchor="b"/>
          <a:lstStyle>
            <a:lvl1pPr>
              <a:defRPr sz="25200"/>
            </a:lvl1pPr>
          </a:lstStyle>
          <a:p>
            <a:r>
              <a:rPr lang="en-US"/>
              <a:t>Click to edit Master title style</a:t>
            </a:r>
          </a:p>
        </p:txBody>
      </p:sp>
      <p:sp>
        <p:nvSpPr>
          <p:cNvPr id="3" name="Text Placeholder 2"/>
          <p:cNvSpPr>
            <a:spLocks noGrp="1"/>
          </p:cNvSpPr>
          <p:nvPr>
            <p:ph type="body" idx="1"/>
          </p:nvPr>
        </p:nvSpPr>
        <p:spPr>
          <a:xfrm>
            <a:off x="2620330" y="29372573"/>
            <a:ext cx="33124140" cy="9601197"/>
          </a:xfrm>
        </p:spPr>
        <p:txBody>
          <a:bodyPr/>
          <a:lstStyle>
            <a:lvl1pPr marL="0" indent="0">
              <a:buNone/>
              <a:defRPr sz="10080">
                <a:solidFill>
                  <a:schemeClr val="tx1"/>
                </a:solidFill>
              </a:defRPr>
            </a:lvl1pPr>
            <a:lvl2pPr marL="1920240" indent="0">
              <a:buNone/>
              <a:defRPr sz="8400">
                <a:solidFill>
                  <a:schemeClr val="tx1">
                    <a:tint val="75000"/>
                  </a:schemeClr>
                </a:solidFill>
              </a:defRPr>
            </a:lvl2pPr>
            <a:lvl3pPr marL="3840480" indent="0">
              <a:buNone/>
              <a:defRPr sz="7560">
                <a:solidFill>
                  <a:schemeClr val="tx1">
                    <a:tint val="75000"/>
                  </a:schemeClr>
                </a:solidFill>
              </a:defRPr>
            </a:lvl3pPr>
            <a:lvl4pPr marL="5760720" indent="0">
              <a:buNone/>
              <a:defRPr sz="6720">
                <a:solidFill>
                  <a:schemeClr val="tx1">
                    <a:tint val="75000"/>
                  </a:schemeClr>
                </a:solidFill>
              </a:defRPr>
            </a:lvl4pPr>
            <a:lvl5pPr marL="7680960" indent="0">
              <a:buNone/>
              <a:defRPr sz="6720">
                <a:solidFill>
                  <a:schemeClr val="tx1">
                    <a:tint val="75000"/>
                  </a:schemeClr>
                </a:solidFill>
              </a:defRPr>
            </a:lvl5pPr>
            <a:lvl6pPr marL="9601200" indent="0">
              <a:buNone/>
              <a:defRPr sz="6720">
                <a:solidFill>
                  <a:schemeClr val="tx1">
                    <a:tint val="75000"/>
                  </a:schemeClr>
                </a:solidFill>
              </a:defRPr>
            </a:lvl6pPr>
            <a:lvl7pPr marL="11521440" indent="0">
              <a:buNone/>
              <a:defRPr sz="6720">
                <a:solidFill>
                  <a:schemeClr val="tx1">
                    <a:tint val="75000"/>
                  </a:schemeClr>
                </a:solidFill>
              </a:defRPr>
            </a:lvl7pPr>
            <a:lvl8pPr marL="13441680" indent="0">
              <a:buNone/>
              <a:defRPr sz="6720">
                <a:solidFill>
                  <a:schemeClr val="tx1">
                    <a:tint val="75000"/>
                  </a:schemeClr>
                </a:solidFill>
              </a:defRPr>
            </a:lvl8pPr>
            <a:lvl9pPr marL="1536192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1BDC38-0637-4A4F-BCBC-4AF793E02F82}"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2470660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640330" y="11684000"/>
            <a:ext cx="1632204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9442430" y="11684000"/>
            <a:ext cx="1632204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81BDC38-0637-4A4F-BCBC-4AF793E02F82}"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1652458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336810"/>
            <a:ext cx="33124140" cy="8483603"/>
          </a:xfrm>
        </p:spPr>
        <p:txBody>
          <a:bodyPr/>
          <a:lstStyle/>
          <a:p>
            <a:r>
              <a:rPr lang="en-US"/>
              <a:t>Click to edit Master title style</a:t>
            </a:r>
          </a:p>
        </p:txBody>
      </p:sp>
      <p:sp>
        <p:nvSpPr>
          <p:cNvPr id="3" name="Text Placeholder 2"/>
          <p:cNvSpPr>
            <a:spLocks noGrp="1"/>
          </p:cNvSpPr>
          <p:nvPr>
            <p:ph type="body" idx="1"/>
          </p:nvPr>
        </p:nvSpPr>
        <p:spPr>
          <a:xfrm>
            <a:off x="2645336" y="10759443"/>
            <a:ext cx="16247028" cy="527303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6032480"/>
            <a:ext cx="16247028"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9442432" y="10759443"/>
            <a:ext cx="16327042" cy="527303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6032480"/>
            <a:ext cx="16327042"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81BDC38-0637-4A4F-BCBC-4AF793E02F82}" type="datetimeFigureOut">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32086132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81BDC38-0637-4A4F-BCBC-4AF793E02F82}" type="datetimeFigureOut">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1186893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1BDC38-0637-4A4F-BCBC-4AF793E02F82}" type="datetimeFigureOut">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7310106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926080"/>
            <a:ext cx="12386548" cy="10241280"/>
          </a:xfrm>
        </p:spPr>
        <p:txBody>
          <a:bodyPr anchor="b"/>
          <a:lstStyle>
            <a:lvl1pPr>
              <a:defRPr sz="13440"/>
            </a:lvl1pPr>
          </a:lstStyle>
          <a:p>
            <a:r>
              <a:rPr lang="en-US"/>
              <a:t>Click to edit Master title style</a:t>
            </a:r>
          </a:p>
        </p:txBody>
      </p:sp>
      <p:sp>
        <p:nvSpPr>
          <p:cNvPr id="3" name="Content Placeholder 2"/>
          <p:cNvSpPr>
            <a:spLocks noGrp="1"/>
          </p:cNvSpPr>
          <p:nvPr>
            <p:ph idx="1"/>
          </p:nvPr>
        </p:nvSpPr>
        <p:spPr>
          <a:xfrm>
            <a:off x="16327042" y="6319530"/>
            <a:ext cx="19442430" cy="311912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645332" y="13167360"/>
            <a:ext cx="12386548" cy="2439416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381BDC38-0637-4A4F-BCBC-4AF793E02F82}"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5503035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926080"/>
            <a:ext cx="12386548" cy="10241280"/>
          </a:xfrm>
        </p:spPr>
        <p:txBody>
          <a:bodyPr anchor="b"/>
          <a:lstStyle>
            <a:lvl1pPr>
              <a:defRPr sz="13440"/>
            </a:lvl1pPr>
          </a:lstStyle>
          <a:p>
            <a:r>
              <a:rPr lang="en-US"/>
              <a:t>Click to edit Master title style</a:t>
            </a:r>
          </a:p>
        </p:txBody>
      </p:sp>
      <p:sp>
        <p:nvSpPr>
          <p:cNvPr id="3" name="Picture Placeholder 2"/>
          <p:cNvSpPr>
            <a:spLocks noGrp="1" noChangeAspect="1"/>
          </p:cNvSpPr>
          <p:nvPr>
            <p:ph type="pic" idx="1"/>
          </p:nvPr>
        </p:nvSpPr>
        <p:spPr>
          <a:xfrm>
            <a:off x="16327042" y="6319530"/>
            <a:ext cx="19442430" cy="311912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p>
        </p:txBody>
      </p:sp>
      <p:sp>
        <p:nvSpPr>
          <p:cNvPr id="4" name="Text Placeholder 3"/>
          <p:cNvSpPr>
            <a:spLocks noGrp="1"/>
          </p:cNvSpPr>
          <p:nvPr>
            <p:ph type="body" sz="half" idx="2"/>
          </p:nvPr>
        </p:nvSpPr>
        <p:spPr>
          <a:xfrm>
            <a:off x="2645332" y="13167360"/>
            <a:ext cx="12386548" cy="2439416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381BDC38-0637-4A4F-BCBC-4AF793E02F82}"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3599511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81BDC38-0637-4A4F-BCBC-4AF793E02F82}"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28291194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336800"/>
            <a:ext cx="8281035" cy="37195763"/>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640332" y="2336800"/>
            <a:ext cx="24363045" cy="371957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81BDC38-0637-4A4F-BCBC-4AF793E02F82}"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AD08924-CCEE-4273-9AC6-45E6F624633A}" type="slidenum">
              <a:rPr lang="en-US" smtClean="0"/>
              <a:t>‹#›</a:t>
            </a:fld>
            <a:endParaRPr lang="en-US"/>
          </a:p>
        </p:txBody>
      </p:sp>
    </p:spTree>
    <p:extLst>
      <p:ext uri="{BB962C8B-B14F-4D97-AF65-F5344CB8AC3E}">
        <p14:creationId xmlns:p14="http://schemas.microsoft.com/office/powerpoint/2010/main" val="3447693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336810"/>
            <a:ext cx="33124140" cy="848360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2640330" y="11684000"/>
            <a:ext cx="33124140" cy="278485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640330" y="40680650"/>
            <a:ext cx="8641080" cy="2336800"/>
          </a:xfrm>
          <a:prstGeom prst="rect">
            <a:avLst/>
          </a:prstGeom>
        </p:spPr>
        <p:txBody>
          <a:bodyPr vert="horz" lIns="91440" tIns="45720" rIns="91440" bIns="45720" rtlCol="0" anchor="ctr"/>
          <a:lstStyle>
            <a:lvl1pPr algn="l">
              <a:defRPr sz="5040">
                <a:solidFill>
                  <a:schemeClr val="tx1">
                    <a:tint val="75000"/>
                  </a:schemeClr>
                </a:solidFill>
              </a:defRPr>
            </a:lvl1pPr>
          </a:lstStyle>
          <a:p>
            <a:fld id="{381BDC38-0637-4A4F-BCBC-4AF793E02F82}" type="datetimeFigureOut">
              <a:rPr lang="en-US" smtClean="0"/>
              <a:t>7/13/26</a:t>
            </a:fld>
            <a:endParaRPr lang="en-US"/>
          </a:p>
        </p:txBody>
      </p:sp>
      <p:sp>
        <p:nvSpPr>
          <p:cNvPr id="5" name="Footer Placeholder 4"/>
          <p:cNvSpPr>
            <a:spLocks noGrp="1"/>
          </p:cNvSpPr>
          <p:nvPr>
            <p:ph type="ftr" sz="quarter" idx="3"/>
          </p:nvPr>
        </p:nvSpPr>
        <p:spPr>
          <a:xfrm>
            <a:off x="12721590" y="40680650"/>
            <a:ext cx="12961620" cy="2336800"/>
          </a:xfrm>
          <a:prstGeom prst="rect">
            <a:avLst/>
          </a:prstGeom>
        </p:spPr>
        <p:txBody>
          <a:bodyPr vert="horz" lIns="91440" tIns="45720" rIns="91440" bIns="45720" rtlCol="0" anchor="ctr"/>
          <a:lstStyle>
            <a:lvl1pPr algn="ctr">
              <a:defRPr sz="504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7123390" y="40680650"/>
            <a:ext cx="8641080" cy="2336800"/>
          </a:xfrm>
          <a:prstGeom prst="rect">
            <a:avLst/>
          </a:prstGeom>
        </p:spPr>
        <p:txBody>
          <a:bodyPr vert="horz" lIns="91440" tIns="45720" rIns="91440" bIns="45720" rtlCol="0" anchor="ctr"/>
          <a:lstStyle>
            <a:lvl1pPr algn="r">
              <a:defRPr sz="5040">
                <a:solidFill>
                  <a:schemeClr val="tx1">
                    <a:tint val="75000"/>
                  </a:schemeClr>
                </a:solidFill>
              </a:defRPr>
            </a:lvl1pPr>
          </a:lstStyle>
          <a:p>
            <a:fld id="{EAD08924-CCEE-4273-9AC6-45E6F624633A}" type="slidenum">
              <a:rPr lang="en-US" smtClean="0"/>
              <a:t>‹#›</a:t>
            </a:fld>
            <a:endParaRPr lang="en-US"/>
          </a:p>
        </p:txBody>
      </p:sp>
    </p:spTree>
    <p:extLst>
      <p:ext uri="{BB962C8B-B14F-4D97-AF65-F5344CB8AC3E}">
        <p14:creationId xmlns:p14="http://schemas.microsoft.com/office/powerpoint/2010/main" val="1015785144"/>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70E4B33A-3B9D-4084-8D72-BC443BDBBF14}"/>
              </a:ext>
            </a:extLst>
          </p:cNvPr>
          <p:cNvGraphicFramePr>
            <a:graphicFrameLocks noGrp="1"/>
          </p:cNvGraphicFramePr>
          <p:nvPr>
            <p:extLst>
              <p:ext uri="{D42A27DB-BD31-4B8C-83A1-F6EECF244321}">
                <p14:modId xmlns:p14="http://schemas.microsoft.com/office/powerpoint/2010/main" val="4046561704"/>
              </p:ext>
            </p:extLst>
          </p:nvPr>
        </p:nvGraphicFramePr>
        <p:xfrm>
          <a:off x="0" y="-24631"/>
          <a:ext cx="38404800" cy="5587231"/>
        </p:xfrm>
        <a:graphic>
          <a:graphicData uri="http://schemas.openxmlformats.org/drawingml/2006/table">
            <a:tbl>
              <a:tblPr firstRow="1" bandRow="1">
                <a:solidFill>
                  <a:srgbClr val="002B4C"/>
                </a:solidFill>
                <a:tableStyleId>{5C22544A-7EE6-4342-B048-85BDC9FD1C3A}</a:tableStyleId>
              </a:tblPr>
              <a:tblGrid>
                <a:gridCol w="38404800">
                  <a:extLst>
                    <a:ext uri="{9D8B030D-6E8A-4147-A177-3AD203B41FA5}">
                      <a16:colId xmlns:a16="http://schemas.microsoft.com/office/drawing/2014/main" val="2889544333"/>
                    </a:ext>
                  </a:extLst>
                </a:gridCol>
              </a:tblGrid>
              <a:tr h="5587231">
                <a:tc>
                  <a:txBody>
                    <a:bodyPr/>
                    <a:lstStyle/>
                    <a:p>
                      <a:endParaRPr lang="en-US" sz="11000" b="1" kern="1200" dirty="0">
                        <a:solidFill>
                          <a:schemeClr val="lt1"/>
                        </a:solidFill>
                        <a:latin typeface="+mn-lt"/>
                        <a:ea typeface="+mn-ea"/>
                        <a:cs typeface="+mn-cs"/>
                      </a:endParaRPr>
                    </a:p>
                  </a:txBody>
                  <a:tcPr marL="116840" marR="116840" marT="58420" marB="58420">
                    <a:solidFill>
                      <a:srgbClr val="0070C0"/>
                    </a:solidFill>
                  </a:tcPr>
                </a:tc>
                <a:extLst>
                  <a:ext uri="{0D108BD9-81ED-4DB2-BD59-A6C34878D82A}">
                    <a16:rowId xmlns:a16="http://schemas.microsoft.com/office/drawing/2014/main" val="1969495196"/>
                  </a:ext>
                </a:extLst>
              </a:tr>
            </a:tbl>
          </a:graphicData>
        </a:graphic>
      </p:graphicFrame>
      <p:sp>
        <p:nvSpPr>
          <p:cNvPr id="5" name="Title 3">
            <a:extLst>
              <a:ext uri="{FF2B5EF4-FFF2-40B4-BE49-F238E27FC236}">
                <a16:creationId xmlns:a16="http://schemas.microsoft.com/office/drawing/2014/main" id="{507B32C9-99ED-40ED-A94A-3AFE27F001C8}"/>
              </a:ext>
            </a:extLst>
          </p:cNvPr>
          <p:cNvSpPr>
            <a:spLocks/>
          </p:cNvSpPr>
          <p:nvPr/>
        </p:nvSpPr>
        <p:spPr bwMode="auto">
          <a:xfrm>
            <a:off x="60209" y="-100108"/>
            <a:ext cx="38084073" cy="4557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35521" tIns="417757" rIns="835521" bIns="417757" anchor="t"/>
          <a:lstStyle/>
          <a:p>
            <a:pPr>
              <a:spcBef>
                <a:spcPts val="1533"/>
              </a:spcBef>
              <a:spcAft>
                <a:spcPts val="1533"/>
              </a:spcAft>
            </a:pPr>
            <a:r>
              <a:rPr lang="en-US" sz="9600" b="1" dirty="0">
                <a:solidFill>
                  <a:srgbClr val="FFFFFF"/>
                </a:solidFill>
                <a:cs typeface="Times New Roman" panose="02020603050405020304" pitchFamily="18" charset="0"/>
              </a:rPr>
              <a:t>Analyzing Medicare Part D Opioid Prescribing Patterns Across the United States</a:t>
            </a:r>
          </a:p>
          <a:p>
            <a:pPr>
              <a:spcBef>
                <a:spcPts val="1533"/>
              </a:spcBef>
              <a:spcAft>
                <a:spcPts val="1533"/>
              </a:spcAft>
            </a:pPr>
            <a:r>
              <a:rPr lang="en-US" sz="4800" dirty="0">
                <a:solidFill>
                  <a:srgbClr val="FFFFFF"/>
                </a:solidFill>
                <a:cs typeface="Times New Roman" panose="02020603050405020304" pitchFamily="18" charset="0"/>
              </a:rPr>
              <a:t>Josiah Barnes </a:t>
            </a:r>
          </a:p>
          <a:p>
            <a:pPr>
              <a:spcBef>
                <a:spcPts val="1533"/>
              </a:spcBef>
              <a:spcAft>
                <a:spcPts val="1533"/>
              </a:spcAft>
            </a:pPr>
            <a:endParaRPr lang="en-US" sz="9966" dirty="0">
              <a:solidFill>
                <a:srgbClr val="FFFFFF"/>
              </a:solidFill>
              <a:cs typeface="Times New Roman" panose="02020603050405020304" pitchFamily="18" charset="0"/>
            </a:endParaRPr>
          </a:p>
        </p:txBody>
      </p:sp>
      <p:sp>
        <p:nvSpPr>
          <p:cNvPr id="7" name="TextBox 6">
            <a:extLst>
              <a:ext uri="{FF2B5EF4-FFF2-40B4-BE49-F238E27FC236}">
                <a16:creationId xmlns:a16="http://schemas.microsoft.com/office/drawing/2014/main" id="{459A48E5-0A96-4E5B-ACA6-D4D44170FC7F}"/>
              </a:ext>
            </a:extLst>
          </p:cNvPr>
          <p:cNvSpPr txBox="1"/>
          <p:nvPr/>
        </p:nvSpPr>
        <p:spPr>
          <a:xfrm>
            <a:off x="506521" y="28830694"/>
            <a:ext cx="10166084" cy="1167630"/>
          </a:xfrm>
          <a:prstGeom prst="rect">
            <a:avLst/>
          </a:prstGeom>
          <a:solidFill>
            <a:srgbClr val="0070C0"/>
          </a:solidFill>
        </p:spPr>
        <p:txBody>
          <a:bodyPr wrap="square" lIns="181669" tIns="90835" rIns="181669" bIns="90835" rtlCol="0">
            <a:spAutoFit/>
          </a:bodyPr>
          <a:lstStyle/>
          <a:p>
            <a:pPr algn="ctr"/>
            <a:r>
              <a:rPr lang="en-US" sz="6200" b="1">
                <a:solidFill>
                  <a:srgbClr val="FFFFFF"/>
                </a:solidFill>
                <a:cs typeface="Times New Roman" panose="02020603050405020304" pitchFamily="18" charset="0"/>
              </a:rPr>
              <a:t>METHODS</a:t>
            </a:r>
          </a:p>
        </p:txBody>
      </p:sp>
      <p:sp>
        <p:nvSpPr>
          <p:cNvPr id="8" name="TextBox 7">
            <a:extLst>
              <a:ext uri="{FF2B5EF4-FFF2-40B4-BE49-F238E27FC236}">
                <a16:creationId xmlns:a16="http://schemas.microsoft.com/office/drawing/2014/main" id="{AF40FB9C-9DD1-4687-9661-7B4C73BD225A}"/>
              </a:ext>
            </a:extLst>
          </p:cNvPr>
          <p:cNvSpPr txBox="1"/>
          <p:nvPr/>
        </p:nvSpPr>
        <p:spPr>
          <a:xfrm>
            <a:off x="27408846" y="17158452"/>
            <a:ext cx="10379188" cy="1137551"/>
          </a:xfrm>
          <a:prstGeom prst="rect">
            <a:avLst/>
          </a:prstGeom>
          <a:solidFill>
            <a:srgbClr val="0070C0"/>
          </a:solidFill>
        </p:spPr>
        <p:txBody>
          <a:bodyPr wrap="square" lIns="181669" tIns="90835" rIns="181669" bIns="90835" rtlCol="0" anchor="t">
            <a:spAutoFit/>
          </a:bodyPr>
          <a:lstStyle/>
          <a:p>
            <a:pPr algn="ctr"/>
            <a:r>
              <a:rPr lang="en-US" sz="6200" b="1">
                <a:solidFill>
                  <a:schemeClr val="bg1"/>
                </a:solidFill>
                <a:cs typeface="Times New Roman" panose="02020603050405020304" pitchFamily="18" charset="0"/>
              </a:rPr>
              <a:t>CONCLUSIONS</a:t>
            </a:r>
          </a:p>
        </p:txBody>
      </p:sp>
      <p:sp>
        <p:nvSpPr>
          <p:cNvPr id="9" name="TextBox 8">
            <a:extLst>
              <a:ext uri="{FF2B5EF4-FFF2-40B4-BE49-F238E27FC236}">
                <a16:creationId xmlns:a16="http://schemas.microsoft.com/office/drawing/2014/main" id="{B0E63B92-C95B-46A8-A99D-493598DD3428}"/>
              </a:ext>
            </a:extLst>
          </p:cNvPr>
          <p:cNvSpPr txBox="1"/>
          <p:nvPr/>
        </p:nvSpPr>
        <p:spPr>
          <a:xfrm>
            <a:off x="506524" y="5812663"/>
            <a:ext cx="10268950" cy="1137551"/>
          </a:xfrm>
          <a:prstGeom prst="rect">
            <a:avLst/>
          </a:prstGeom>
          <a:solidFill>
            <a:srgbClr val="0070C0"/>
          </a:solidFill>
        </p:spPr>
        <p:txBody>
          <a:bodyPr wrap="square" lIns="181669" tIns="90835" rIns="181669" bIns="90835" rtlCol="0" anchor="t">
            <a:spAutoFit/>
          </a:bodyPr>
          <a:lstStyle/>
          <a:p>
            <a:pPr algn="ctr"/>
            <a:r>
              <a:rPr lang="en-US" sz="6200" b="1">
                <a:solidFill>
                  <a:schemeClr val="bg1"/>
                </a:solidFill>
                <a:cs typeface="Times New Roman" panose="02020603050405020304" pitchFamily="18" charset="0"/>
              </a:rPr>
              <a:t>INTRODUCTION</a:t>
            </a:r>
          </a:p>
        </p:txBody>
      </p:sp>
      <p:sp>
        <p:nvSpPr>
          <p:cNvPr id="11" name="TextBox 10">
            <a:extLst>
              <a:ext uri="{FF2B5EF4-FFF2-40B4-BE49-F238E27FC236}">
                <a16:creationId xmlns:a16="http://schemas.microsoft.com/office/drawing/2014/main" id="{E5D0BBB5-680A-4250-B536-7F297F90E319}"/>
              </a:ext>
            </a:extLst>
          </p:cNvPr>
          <p:cNvSpPr txBox="1"/>
          <p:nvPr/>
        </p:nvSpPr>
        <p:spPr>
          <a:xfrm>
            <a:off x="13688292" y="5855139"/>
            <a:ext cx="12018842" cy="1137551"/>
          </a:xfrm>
          <a:prstGeom prst="rect">
            <a:avLst/>
          </a:prstGeom>
          <a:solidFill>
            <a:srgbClr val="0070C0"/>
          </a:solidFill>
        </p:spPr>
        <p:txBody>
          <a:bodyPr wrap="square" lIns="181669" tIns="90835" rIns="181669" bIns="90835" rtlCol="0" anchor="t">
            <a:spAutoFit/>
          </a:bodyPr>
          <a:lstStyle/>
          <a:p>
            <a:pPr algn="ctr"/>
            <a:r>
              <a:rPr lang="en-US" sz="6200" b="1">
                <a:solidFill>
                  <a:schemeClr val="bg1"/>
                </a:solidFill>
                <a:cs typeface="Times New Roman" panose="02020603050405020304" pitchFamily="18" charset="0"/>
              </a:rPr>
              <a:t>RESULTS</a:t>
            </a:r>
          </a:p>
        </p:txBody>
      </p:sp>
      <p:sp>
        <p:nvSpPr>
          <p:cNvPr id="12" name="TextBox 11">
            <a:extLst>
              <a:ext uri="{FF2B5EF4-FFF2-40B4-BE49-F238E27FC236}">
                <a16:creationId xmlns:a16="http://schemas.microsoft.com/office/drawing/2014/main" id="{108B5163-1C79-4AFA-8D71-792829F71176}"/>
              </a:ext>
            </a:extLst>
          </p:cNvPr>
          <p:cNvSpPr txBox="1"/>
          <p:nvPr/>
        </p:nvSpPr>
        <p:spPr>
          <a:xfrm>
            <a:off x="27408845" y="35272582"/>
            <a:ext cx="10514955" cy="1137551"/>
          </a:xfrm>
          <a:prstGeom prst="rect">
            <a:avLst/>
          </a:prstGeom>
          <a:solidFill>
            <a:srgbClr val="0070C0"/>
          </a:solidFill>
        </p:spPr>
        <p:txBody>
          <a:bodyPr wrap="square" lIns="181669" tIns="90835" rIns="181669" bIns="90835" rtlCol="0" anchor="t">
            <a:spAutoFit/>
          </a:bodyPr>
          <a:lstStyle/>
          <a:p>
            <a:pPr algn="ctr"/>
            <a:r>
              <a:rPr lang="en-US" sz="6200" b="1">
                <a:solidFill>
                  <a:schemeClr val="bg1"/>
                </a:solidFill>
                <a:cs typeface="Times New Roman" panose="02020603050405020304" pitchFamily="18" charset="0"/>
              </a:rPr>
              <a:t>ACKNOWLEDGEMENTS</a:t>
            </a:r>
          </a:p>
        </p:txBody>
      </p:sp>
      <p:sp>
        <p:nvSpPr>
          <p:cNvPr id="13" name="TextBox 12">
            <a:extLst>
              <a:ext uri="{FF2B5EF4-FFF2-40B4-BE49-F238E27FC236}">
                <a16:creationId xmlns:a16="http://schemas.microsoft.com/office/drawing/2014/main" id="{0C1DB460-602A-46E9-BCB5-600BD4A9D3F0}"/>
              </a:ext>
            </a:extLst>
          </p:cNvPr>
          <p:cNvSpPr txBox="1"/>
          <p:nvPr/>
        </p:nvSpPr>
        <p:spPr>
          <a:xfrm>
            <a:off x="27544611" y="27092126"/>
            <a:ext cx="10379189" cy="1137551"/>
          </a:xfrm>
          <a:prstGeom prst="rect">
            <a:avLst/>
          </a:prstGeom>
          <a:solidFill>
            <a:srgbClr val="0070C0"/>
          </a:solidFill>
        </p:spPr>
        <p:txBody>
          <a:bodyPr wrap="square" lIns="181669" tIns="90835" rIns="181669" bIns="90835" rtlCol="0" anchor="t">
            <a:spAutoFit/>
          </a:bodyPr>
          <a:lstStyle/>
          <a:p>
            <a:pPr algn="ctr"/>
            <a:r>
              <a:rPr lang="en-US" sz="6200" b="1">
                <a:solidFill>
                  <a:schemeClr val="bg1"/>
                </a:solidFill>
                <a:cs typeface="Times New Roman" panose="02020603050405020304" pitchFamily="18" charset="0"/>
              </a:rPr>
              <a:t>REFERENCES</a:t>
            </a:r>
          </a:p>
        </p:txBody>
      </p:sp>
      <p:sp>
        <p:nvSpPr>
          <p:cNvPr id="14" name="TextBox 13">
            <a:extLst>
              <a:ext uri="{FF2B5EF4-FFF2-40B4-BE49-F238E27FC236}">
                <a16:creationId xmlns:a16="http://schemas.microsoft.com/office/drawing/2014/main" id="{2F7B0ED9-D396-4363-ACAD-6B48D1FFB2CC}"/>
              </a:ext>
            </a:extLst>
          </p:cNvPr>
          <p:cNvSpPr txBox="1"/>
          <p:nvPr/>
        </p:nvSpPr>
        <p:spPr>
          <a:xfrm>
            <a:off x="557953" y="17468510"/>
            <a:ext cx="10166084" cy="1137551"/>
          </a:xfrm>
          <a:prstGeom prst="rect">
            <a:avLst/>
          </a:prstGeom>
          <a:solidFill>
            <a:srgbClr val="0070C0"/>
          </a:solidFill>
        </p:spPr>
        <p:txBody>
          <a:bodyPr wrap="square" lIns="181669" tIns="90835" rIns="181669" bIns="90835" rtlCol="0">
            <a:spAutoFit/>
          </a:bodyPr>
          <a:lstStyle/>
          <a:p>
            <a:pPr algn="ctr"/>
            <a:r>
              <a:rPr lang="en-US" sz="6200" b="1">
                <a:solidFill>
                  <a:srgbClr val="FFFFFF"/>
                </a:solidFill>
                <a:cs typeface="Times New Roman" panose="02020603050405020304" pitchFamily="18" charset="0"/>
              </a:rPr>
              <a:t>HYPOTHESIS &amp;/OR OBJECTIVE</a:t>
            </a:r>
          </a:p>
        </p:txBody>
      </p:sp>
      <p:graphicFrame>
        <p:nvGraphicFramePr>
          <p:cNvPr id="15" name="Table 4">
            <a:extLst>
              <a:ext uri="{FF2B5EF4-FFF2-40B4-BE49-F238E27FC236}">
                <a16:creationId xmlns:a16="http://schemas.microsoft.com/office/drawing/2014/main" id="{4688C2DD-0D39-425E-A768-D7A326B3D3F3}"/>
              </a:ext>
            </a:extLst>
          </p:cNvPr>
          <p:cNvGraphicFramePr>
            <a:graphicFrameLocks noGrp="1"/>
          </p:cNvGraphicFramePr>
          <p:nvPr>
            <p:extLst>
              <p:ext uri="{D42A27DB-BD31-4B8C-83A1-F6EECF244321}">
                <p14:modId xmlns:p14="http://schemas.microsoft.com/office/powerpoint/2010/main" val="2006391908"/>
              </p:ext>
            </p:extLst>
          </p:nvPr>
        </p:nvGraphicFramePr>
        <p:xfrm>
          <a:off x="0" y="42245280"/>
          <a:ext cx="38404800" cy="1793240"/>
        </p:xfrm>
        <a:graphic>
          <a:graphicData uri="http://schemas.openxmlformats.org/drawingml/2006/table">
            <a:tbl>
              <a:tblPr firstRow="1" bandRow="1">
                <a:solidFill>
                  <a:srgbClr val="002B4C"/>
                </a:solidFill>
                <a:tableStyleId>{5C22544A-7EE6-4342-B048-85BDC9FD1C3A}</a:tableStyleId>
              </a:tblPr>
              <a:tblGrid>
                <a:gridCol w="38404800">
                  <a:extLst>
                    <a:ext uri="{9D8B030D-6E8A-4147-A177-3AD203B41FA5}">
                      <a16:colId xmlns:a16="http://schemas.microsoft.com/office/drawing/2014/main" val="2889544333"/>
                    </a:ext>
                  </a:extLst>
                </a:gridCol>
              </a:tblGrid>
              <a:tr h="1782720">
                <a:tc>
                  <a:txBody>
                    <a:bodyPr/>
                    <a:lstStyle/>
                    <a:p>
                      <a:endParaRPr lang="en-US" sz="11000" b="1" kern="1200" dirty="0">
                        <a:solidFill>
                          <a:schemeClr val="lt1"/>
                        </a:solidFill>
                        <a:latin typeface="+mn-lt"/>
                        <a:ea typeface="+mn-ea"/>
                        <a:cs typeface="+mn-cs"/>
                      </a:endParaRPr>
                    </a:p>
                  </a:txBody>
                  <a:tcPr marL="116840" marR="116840" marT="58420" marB="58420">
                    <a:solidFill>
                      <a:srgbClr val="0070C0"/>
                    </a:solidFill>
                  </a:tcPr>
                </a:tc>
                <a:extLst>
                  <a:ext uri="{0D108BD9-81ED-4DB2-BD59-A6C34878D82A}">
                    <a16:rowId xmlns:a16="http://schemas.microsoft.com/office/drawing/2014/main" val="1969495196"/>
                  </a:ext>
                </a:extLst>
              </a:tr>
            </a:tbl>
          </a:graphicData>
        </a:graphic>
      </p:graphicFrame>
      <p:sp>
        <p:nvSpPr>
          <p:cNvPr id="3" name="TextBox 2">
            <a:extLst>
              <a:ext uri="{FF2B5EF4-FFF2-40B4-BE49-F238E27FC236}">
                <a16:creationId xmlns:a16="http://schemas.microsoft.com/office/drawing/2014/main" id="{501B9B01-3B68-9251-92C9-20AFDEB8234E}"/>
              </a:ext>
            </a:extLst>
          </p:cNvPr>
          <p:cNvSpPr txBox="1"/>
          <p:nvPr/>
        </p:nvSpPr>
        <p:spPr>
          <a:xfrm>
            <a:off x="363440" y="7036621"/>
            <a:ext cx="10268950" cy="10310515"/>
          </a:xfrm>
          <a:prstGeom prst="rect">
            <a:avLst/>
          </a:prstGeom>
          <a:noFill/>
        </p:spPr>
        <p:txBody>
          <a:bodyPr wrap="square" rtlCol="0">
            <a:spAutoFit/>
          </a:bodyPr>
          <a:lstStyle/>
          <a:p>
            <a:pPr marL="571500" indent="-571500">
              <a:buFont typeface="Arial" panose="020B0604020202020204" pitchFamily="34" charset="0"/>
              <a:buChar char="•"/>
            </a:pPr>
            <a:r>
              <a:rPr lang="en-US" sz="4400">
                <a:cs typeface="Times New Roman" panose="02020603050405020304" pitchFamily="18" charset="0"/>
              </a:rPr>
              <a:t>The opioid epidemic disproportionately impacts older adults and is underrepresented in surveillance data.</a:t>
            </a:r>
          </a:p>
          <a:p>
            <a:pPr marL="571500" indent="-571500">
              <a:buFont typeface="Arial" panose="020B0604020202020204" pitchFamily="34" charset="0"/>
              <a:buChar char="•"/>
            </a:pPr>
            <a:r>
              <a:rPr lang="en-US" sz="4400">
                <a:cs typeface="Times New Roman" panose="02020603050405020304" pitchFamily="18" charset="0"/>
              </a:rPr>
              <a:t>Medicare Part D offers an opportunity to evaluate opioid prescribing among seniors.</a:t>
            </a:r>
          </a:p>
          <a:p>
            <a:pPr marL="571500" indent="-571500">
              <a:buFont typeface="Arial" panose="020B0604020202020204" pitchFamily="34" charset="0"/>
              <a:buChar char="•"/>
            </a:pPr>
            <a:r>
              <a:rPr lang="en-US" sz="4400">
                <a:cs typeface="Times New Roman" panose="02020603050405020304" pitchFamily="18" charset="0"/>
              </a:rPr>
              <a:t>Older adults often have chronic pain and multiple medication exposures.</a:t>
            </a:r>
          </a:p>
          <a:p>
            <a:pPr marL="571500" indent="-571500">
              <a:buFont typeface="Arial" panose="020B0604020202020204" pitchFamily="34" charset="0"/>
              <a:buChar char="•"/>
            </a:pPr>
            <a:r>
              <a:rPr lang="en-US" sz="4400">
                <a:cs typeface="Times New Roman" panose="02020603050405020304" pitchFamily="18" charset="0"/>
              </a:rPr>
              <a:t>Analyzing geographic trends can uncover disparities in opioid prescribing practices. </a:t>
            </a:r>
          </a:p>
          <a:p>
            <a:pPr marL="571500" indent="-571500">
              <a:buFont typeface="Arial" panose="020B0604020202020204" pitchFamily="34" charset="0"/>
              <a:buChar char="•"/>
            </a:pPr>
            <a:r>
              <a:rPr lang="en-US" sz="4400">
                <a:cs typeface="Times New Roman" panose="02020603050405020304" pitchFamily="18" charset="0"/>
              </a:rPr>
              <a:t> Mapping and visualization </a:t>
            </a:r>
            <a:r>
              <a:rPr lang="en-US" sz="4800">
                <a:cs typeface="Times New Roman" panose="02020603050405020304" pitchFamily="18" charset="0"/>
              </a:rPr>
              <a:t>tools</a:t>
            </a:r>
            <a:r>
              <a:rPr lang="en-US" sz="4400">
                <a:cs typeface="Times New Roman" panose="02020603050405020304" pitchFamily="18" charset="0"/>
              </a:rPr>
              <a:t> are useful for identifying regional variations in prescribing patterns.</a:t>
            </a:r>
          </a:p>
          <a:p>
            <a:pPr marL="571500" indent="-571500">
              <a:buFont typeface="Arial" panose="020B0604020202020204" pitchFamily="34" charset="0"/>
              <a:buChar char="•"/>
            </a:pPr>
            <a:r>
              <a:rPr lang="en-US" sz="4400">
                <a:cs typeface="Times New Roman" panose="02020603050405020304" pitchFamily="18" charset="0"/>
              </a:rPr>
              <a:t>The data used can inform local interventions and public health priorities.</a:t>
            </a:r>
          </a:p>
        </p:txBody>
      </p:sp>
      <p:sp>
        <p:nvSpPr>
          <p:cNvPr id="16" name="TextBox 15">
            <a:extLst>
              <a:ext uri="{FF2B5EF4-FFF2-40B4-BE49-F238E27FC236}">
                <a16:creationId xmlns:a16="http://schemas.microsoft.com/office/drawing/2014/main" id="{5CA36484-0CD9-A96B-D60B-2E5A437BA85B}"/>
              </a:ext>
            </a:extLst>
          </p:cNvPr>
          <p:cNvSpPr txBox="1"/>
          <p:nvPr/>
        </p:nvSpPr>
        <p:spPr>
          <a:xfrm>
            <a:off x="557954" y="18567807"/>
            <a:ext cx="10166083" cy="10926068"/>
          </a:xfrm>
          <a:prstGeom prst="rect">
            <a:avLst/>
          </a:prstGeom>
          <a:noFill/>
        </p:spPr>
        <p:txBody>
          <a:bodyPr wrap="square" rtlCol="0">
            <a:spAutoFit/>
          </a:bodyPr>
          <a:lstStyle/>
          <a:p>
            <a:r>
              <a:rPr lang="en-US" sz="4400" b="1">
                <a:cs typeface="Times New Roman" panose="02020603050405020304" pitchFamily="18" charset="0"/>
              </a:rPr>
              <a:t>Research Question:</a:t>
            </a:r>
          </a:p>
          <a:p>
            <a:pPr marL="571500" indent="-571500">
              <a:buFont typeface="Arial" panose="020B0604020202020204" pitchFamily="34" charset="0"/>
              <a:buChar char="•"/>
            </a:pPr>
            <a:r>
              <a:rPr lang="en-US" sz="4400">
                <a:cs typeface="Times New Roman" panose="02020603050405020304" pitchFamily="18" charset="0"/>
              </a:rPr>
              <a:t>How do opioid prescribing rates vary across U.S. counties?</a:t>
            </a:r>
          </a:p>
          <a:p>
            <a:pPr marL="571500" indent="-571500">
              <a:buFont typeface="Arial" panose="020B0604020202020204" pitchFamily="34" charset="0"/>
              <a:buChar char="•"/>
            </a:pPr>
            <a:r>
              <a:rPr lang="en-US" sz="4400">
                <a:cs typeface="Times New Roman" panose="02020603050405020304" pitchFamily="18" charset="0"/>
              </a:rPr>
              <a:t>What demographic or structural factors explain geographic disparities in prescribing?</a:t>
            </a:r>
          </a:p>
          <a:p>
            <a:r>
              <a:rPr lang="en-US" sz="4400" b="1">
                <a:cs typeface="Times New Roman" panose="02020603050405020304" pitchFamily="18" charset="0"/>
              </a:rPr>
              <a:t>Objectives</a:t>
            </a:r>
            <a:r>
              <a:rPr lang="en-US" sz="4400">
                <a:cs typeface="Times New Roman" panose="02020603050405020304" pitchFamily="18" charset="0"/>
              </a:rPr>
              <a:t>:</a:t>
            </a:r>
          </a:p>
          <a:p>
            <a:pPr marL="571500" indent="-571500">
              <a:buFont typeface="Arial" panose="020B0604020202020204" pitchFamily="34" charset="0"/>
              <a:buChar char="•"/>
            </a:pPr>
            <a:r>
              <a:rPr lang="en-US" sz="4400">
                <a:cs typeface="Times New Roman" panose="02020603050405020304" pitchFamily="18" charset="0"/>
              </a:rPr>
              <a:t>Quantify opioid prescribing rates by county for older beneficiaries.</a:t>
            </a:r>
          </a:p>
          <a:p>
            <a:pPr marL="571500" indent="-571500">
              <a:buFont typeface="Arial" panose="020B0604020202020204" pitchFamily="34" charset="0"/>
              <a:buChar char="•"/>
            </a:pPr>
            <a:r>
              <a:rPr lang="en-US" sz="4400">
                <a:cs typeface="Times New Roman" panose="02020603050405020304" pitchFamily="18" charset="0"/>
              </a:rPr>
              <a:t>Identify counties significantly above or below the national average rates.</a:t>
            </a:r>
          </a:p>
          <a:p>
            <a:pPr marL="571500" indent="-571500">
              <a:buFont typeface="Arial" panose="020B0604020202020204" pitchFamily="34" charset="0"/>
              <a:buChar char="•"/>
            </a:pPr>
            <a:r>
              <a:rPr lang="en-US" sz="4400">
                <a:cs typeface="Times New Roman" panose="02020603050405020304" pitchFamily="18" charset="0"/>
              </a:rPr>
              <a:t>Analyze how income, rurality, race, and education influence trends.</a:t>
            </a:r>
          </a:p>
          <a:p>
            <a:pPr marL="571500" indent="-571500">
              <a:buFont typeface="Arial" panose="020B0604020202020204" pitchFamily="34" charset="0"/>
              <a:buChar char="•"/>
            </a:pPr>
            <a:r>
              <a:rPr lang="en-US" sz="4400">
                <a:cs typeface="Times New Roman" panose="02020603050405020304" pitchFamily="18" charset="0"/>
              </a:rPr>
              <a:t>Create visualizations to support data-driven public health strategies.</a:t>
            </a:r>
          </a:p>
          <a:p>
            <a:endParaRPr lang="en-US" sz="4400">
              <a:cs typeface="Times New Roman" panose="02020603050405020304" pitchFamily="18" charset="0"/>
            </a:endParaRPr>
          </a:p>
        </p:txBody>
      </p:sp>
      <p:sp>
        <p:nvSpPr>
          <p:cNvPr id="17" name="TextBox 16">
            <a:extLst>
              <a:ext uri="{FF2B5EF4-FFF2-40B4-BE49-F238E27FC236}">
                <a16:creationId xmlns:a16="http://schemas.microsoft.com/office/drawing/2014/main" id="{8827A43A-0206-8444-0B9C-A20C89BDE984}"/>
              </a:ext>
            </a:extLst>
          </p:cNvPr>
          <p:cNvSpPr txBox="1"/>
          <p:nvPr/>
        </p:nvSpPr>
        <p:spPr>
          <a:xfrm>
            <a:off x="506521" y="30024396"/>
            <a:ext cx="10268950" cy="12957393"/>
          </a:xfrm>
          <a:prstGeom prst="rect">
            <a:avLst/>
          </a:prstGeom>
          <a:noFill/>
        </p:spPr>
        <p:txBody>
          <a:bodyPr wrap="square" rtlCol="0">
            <a:spAutoFit/>
          </a:bodyPr>
          <a:lstStyle/>
          <a:p>
            <a:pPr marL="571500" indent="-571500">
              <a:buFont typeface="Arial" panose="020B0604020202020204" pitchFamily="34" charset="0"/>
              <a:buChar char="•"/>
            </a:pPr>
            <a:r>
              <a:rPr lang="en-US" sz="4400">
                <a:cs typeface="Times New Roman" panose="02020603050405020304" pitchFamily="18" charset="0"/>
              </a:rPr>
              <a:t> Observational retrospective study using Medicare Part D claims data (2013–2023).</a:t>
            </a:r>
          </a:p>
          <a:p>
            <a:pPr marL="571500" indent="-571500">
              <a:buFont typeface="Arial" panose="020B0604020202020204" pitchFamily="34" charset="0"/>
              <a:buChar char="•"/>
            </a:pPr>
            <a:r>
              <a:rPr lang="en-US" sz="4400">
                <a:cs typeface="Times New Roman" panose="02020603050405020304" pitchFamily="18" charset="0"/>
              </a:rPr>
              <a:t>Population: Beneficiaries aged 65+ who filled at least one opioid prescription.</a:t>
            </a:r>
          </a:p>
          <a:p>
            <a:pPr marL="571500" indent="-571500">
              <a:buFont typeface="Arial" panose="020B0604020202020204" pitchFamily="34" charset="0"/>
              <a:buChar char="•"/>
            </a:pPr>
            <a:r>
              <a:rPr lang="en-US" sz="4400">
                <a:cs typeface="Times New Roman" panose="02020603050405020304" pitchFamily="18" charset="0"/>
              </a:rPr>
              <a:t>Key variables: Claims, total beneficiaries, drug costs, LIS cost share.</a:t>
            </a:r>
          </a:p>
          <a:p>
            <a:pPr marL="571500" indent="-571500">
              <a:buFont typeface="Arial" panose="020B0604020202020204" pitchFamily="34" charset="0"/>
              <a:buChar char="•"/>
            </a:pPr>
            <a:r>
              <a:rPr lang="en-US" sz="4400">
                <a:cs typeface="Times New Roman" panose="02020603050405020304" pitchFamily="18" charset="0"/>
              </a:rPr>
              <a:t>Prescribing rate calculated per 1,000 beneficiaries per county annually.</a:t>
            </a:r>
          </a:p>
          <a:p>
            <a:pPr marL="571500" indent="-571500">
              <a:buFont typeface="Arial" panose="020B0604020202020204" pitchFamily="34" charset="0"/>
              <a:buChar char="•"/>
            </a:pPr>
            <a:r>
              <a:rPr lang="en-US" sz="4400">
                <a:cs typeface="Times New Roman" panose="02020603050405020304" pitchFamily="18" charset="0"/>
              </a:rPr>
              <a:t>Missing or suppressed values were excluded from aggregate county analyses.</a:t>
            </a:r>
          </a:p>
          <a:p>
            <a:pPr marL="571500" indent="-571500">
              <a:buFont typeface="Arial" panose="020B0604020202020204" pitchFamily="34" charset="0"/>
              <a:buChar char="•"/>
            </a:pPr>
            <a:r>
              <a:rPr lang="en-US" sz="4400">
                <a:cs typeface="Times New Roman" panose="02020603050405020304" pitchFamily="18" charset="0"/>
              </a:rPr>
              <a:t>R used for analysis (</a:t>
            </a:r>
            <a:r>
              <a:rPr lang="en-US" sz="4400" err="1">
                <a:cs typeface="Times New Roman" panose="02020603050405020304" pitchFamily="18" charset="0"/>
              </a:rPr>
              <a:t>dplyr</a:t>
            </a:r>
            <a:r>
              <a:rPr lang="en-US" sz="4400">
                <a:cs typeface="Times New Roman" panose="02020603050405020304" pitchFamily="18" charset="0"/>
              </a:rPr>
              <a:t>, ggplot2, </a:t>
            </a:r>
            <a:r>
              <a:rPr lang="en-US" sz="4400" err="1">
                <a:cs typeface="Times New Roman" panose="02020603050405020304" pitchFamily="18" charset="0"/>
              </a:rPr>
              <a:t>tmap</a:t>
            </a:r>
            <a:r>
              <a:rPr lang="en-US" sz="4400">
                <a:cs typeface="Times New Roman" panose="02020603050405020304" pitchFamily="18" charset="0"/>
              </a:rPr>
              <a:t>, sf packages).</a:t>
            </a:r>
          </a:p>
          <a:p>
            <a:pPr marL="571500" indent="-571500">
              <a:buFont typeface="Arial" panose="020B0604020202020204" pitchFamily="34" charset="0"/>
              <a:buChar char="•"/>
            </a:pPr>
            <a:r>
              <a:rPr lang="en-US" sz="4400">
                <a:cs typeface="Times New Roman" panose="02020603050405020304" pitchFamily="18" charset="0"/>
              </a:rPr>
              <a:t>County shapefiles joined using FIPS codes for spatial visualization.</a:t>
            </a:r>
          </a:p>
          <a:p>
            <a:pPr marL="571500" indent="-571500">
              <a:buFont typeface="Arial" panose="020B0604020202020204" pitchFamily="34" charset="0"/>
              <a:buChar char="•"/>
            </a:pPr>
            <a:r>
              <a:rPr lang="en-US" sz="4400">
                <a:cs typeface="Times New Roman" panose="02020603050405020304" pitchFamily="18" charset="0"/>
              </a:rPr>
              <a:t>Data validated through manual checks and documentation of transformations.</a:t>
            </a:r>
          </a:p>
          <a:p>
            <a:pPr marL="571500" indent="-571500">
              <a:buFont typeface="Arial" panose="020B0604020202020204" pitchFamily="34" charset="0"/>
              <a:buChar char="•"/>
            </a:pPr>
            <a:r>
              <a:rPr lang="en-US" sz="4400">
                <a:cs typeface="Times New Roman" panose="02020603050405020304" pitchFamily="18" charset="0"/>
              </a:rPr>
              <a:t>Analysis included maps, bar graphs, and trendlines by year.</a:t>
            </a:r>
          </a:p>
          <a:p>
            <a:endParaRPr lang="en-US" sz="4400">
              <a:cs typeface="Times New Roman" panose="02020603050405020304" pitchFamily="18" charset="0"/>
            </a:endParaRPr>
          </a:p>
        </p:txBody>
      </p:sp>
      <p:pic>
        <p:nvPicPr>
          <p:cNvPr id="19" name="Picture 18" descr="A graph with a line going up&#10;&#10;AI-generated content may be incorrect.">
            <a:extLst>
              <a:ext uri="{FF2B5EF4-FFF2-40B4-BE49-F238E27FC236}">
                <a16:creationId xmlns:a16="http://schemas.microsoft.com/office/drawing/2014/main" id="{3F7D3F11-C65B-649E-9D03-5DD4CF5D7053}"/>
              </a:ext>
            </a:extLst>
          </p:cNvPr>
          <p:cNvPicPr>
            <a:picLocks noChangeAspect="1"/>
          </p:cNvPicPr>
          <p:nvPr/>
        </p:nvPicPr>
        <p:blipFill>
          <a:blip r:embed="rId3">
            <a:extLst>
              <a:ext uri="{28A0092B-C50C-407E-A947-70E740481C1C}">
                <a14:useLocalDpi xmlns:a14="http://schemas.microsoft.com/office/drawing/2010/main" val="0"/>
              </a:ext>
            </a:extLst>
          </a:blip>
          <a:srcRect l="4865" t="6494" r="1221" b="4500"/>
          <a:stretch>
            <a:fillRect/>
          </a:stretch>
        </p:blipFill>
        <p:spPr>
          <a:xfrm>
            <a:off x="12697665" y="10301845"/>
            <a:ext cx="13009469" cy="12525251"/>
          </a:xfrm>
          <a:prstGeom prst="rect">
            <a:avLst/>
          </a:prstGeom>
        </p:spPr>
      </p:pic>
      <p:sp>
        <p:nvSpPr>
          <p:cNvPr id="21" name="TextBox 20">
            <a:extLst>
              <a:ext uri="{FF2B5EF4-FFF2-40B4-BE49-F238E27FC236}">
                <a16:creationId xmlns:a16="http://schemas.microsoft.com/office/drawing/2014/main" id="{6698F362-39DD-9F43-63A7-73E03CC61356}"/>
              </a:ext>
            </a:extLst>
          </p:cNvPr>
          <p:cNvSpPr txBox="1"/>
          <p:nvPr/>
        </p:nvSpPr>
        <p:spPr>
          <a:xfrm>
            <a:off x="13065131" y="23415768"/>
            <a:ext cx="12274536" cy="1754326"/>
          </a:xfrm>
          <a:prstGeom prst="rect">
            <a:avLst/>
          </a:prstGeom>
          <a:noFill/>
        </p:spPr>
        <p:txBody>
          <a:bodyPr wrap="square">
            <a:spAutoFit/>
          </a:bodyPr>
          <a:lstStyle/>
          <a:p>
            <a:r>
              <a:rPr lang="en-US" sz="3600" b="1">
                <a:effectLst/>
                <a:ea typeface="Aptos" panose="020B0004020202020204" pitchFamily="34" charset="0"/>
                <a:cs typeface="Times New Roman" panose="02020603050405020304" pitchFamily="18" charset="0"/>
              </a:rPr>
              <a:t>Figure 1.</a:t>
            </a:r>
            <a:r>
              <a:rPr lang="en-US" sz="3600">
                <a:effectLst/>
                <a:ea typeface="Aptos" panose="020B0004020202020204" pitchFamily="34" charset="0"/>
                <a:cs typeface="Times New Roman" panose="02020603050405020304" pitchFamily="18" charset="0"/>
              </a:rPr>
              <a:t> </a:t>
            </a:r>
            <a:r>
              <a:rPr lang="en-US" sz="3600" i="1">
                <a:effectLst/>
                <a:ea typeface="Aptos" panose="020B0004020202020204" pitchFamily="34" charset="0"/>
                <a:cs typeface="Times New Roman" panose="02020603050405020304" pitchFamily="18" charset="0"/>
              </a:rPr>
              <a:t>Average Opioid Prescribing Rate by Year (2013–2023)</a:t>
            </a:r>
            <a:r>
              <a:rPr lang="en-US" sz="3600" i="1">
                <a:ea typeface="Aptos" panose="020B0004020202020204" pitchFamily="34" charset="0"/>
                <a:cs typeface="Times New Roman" panose="02020603050405020304" pitchFamily="18" charset="0"/>
              </a:rPr>
              <a:t> </a:t>
            </a:r>
            <a:r>
              <a:rPr lang="en-US" sz="3600">
                <a:ea typeface="Aptos" panose="020B0004020202020204" pitchFamily="34" charset="0"/>
                <a:cs typeface="Times New Roman" panose="02020603050405020304" pitchFamily="18" charset="0"/>
              </a:rPr>
              <a:t>[ </a:t>
            </a:r>
            <a:r>
              <a:rPr lang="en-US" sz="3600">
                <a:effectLst/>
                <a:ea typeface="Aptos" panose="020B0004020202020204" pitchFamily="34" charset="0"/>
                <a:cs typeface="Times New Roman" panose="02020603050405020304" pitchFamily="18" charset="0"/>
              </a:rPr>
              <a:t>Red line indicates national average; black dots represent annual data points</a:t>
            </a:r>
            <a:r>
              <a:rPr lang="en-US" sz="3600">
                <a:cs typeface="Times New Roman" panose="02020603050405020304" pitchFamily="18" charset="0"/>
              </a:rPr>
              <a:t>]</a:t>
            </a:r>
          </a:p>
        </p:txBody>
      </p:sp>
      <p:sp>
        <p:nvSpPr>
          <p:cNvPr id="25" name="TextBox 24">
            <a:extLst>
              <a:ext uri="{FF2B5EF4-FFF2-40B4-BE49-F238E27FC236}">
                <a16:creationId xmlns:a16="http://schemas.microsoft.com/office/drawing/2014/main" id="{E2B39519-25A9-C803-4435-B09B8F24CB29}"/>
              </a:ext>
            </a:extLst>
          </p:cNvPr>
          <p:cNvSpPr txBox="1"/>
          <p:nvPr/>
        </p:nvSpPr>
        <p:spPr>
          <a:xfrm>
            <a:off x="13688292" y="7284181"/>
            <a:ext cx="12018842" cy="3477875"/>
          </a:xfrm>
          <a:prstGeom prst="rect">
            <a:avLst/>
          </a:prstGeom>
          <a:noFill/>
        </p:spPr>
        <p:txBody>
          <a:bodyPr wrap="square" rtlCol="0">
            <a:spAutoFit/>
          </a:bodyPr>
          <a:lstStyle/>
          <a:p>
            <a:pPr marL="571500" indent="-571500">
              <a:buFont typeface="Arial" panose="020B0604020202020204" pitchFamily="34" charset="0"/>
              <a:buChar char="•"/>
            </a:pPr>
            <a:r>
              <a:rPr lang="en-US" sz="4400">
                <a:cs typeface="Times New Roman" panose="02020603050405020304" pitchFamily="18" charset="0"/>
              </a:rPr>
              <a:t>Over 3,000 U.S. counties met inclusion criteria for this analysis.</a:t>
            </a:r>
          </a:p>
          <a:p>
            <a:pPr marL="571500" indent="-571500">
              <a:buFont typeface="Arial" panose="020B0604020202020204" pitchFamily="34" charset="0"/>
              <a:buChar char="•"/>
            </a:pPr>
            <a:r>
              <a:rPr lang="en-US" sz="4400">
                <a:cs typeface="Times New Roman" panose="02020603050405020304" pitchFamily="18" charset="0"/>
              </a:rPr>
              <a:t>Approximately 10–15% of counties were excluded due to suppressed data.</a:t>
            </a:r>
          </a:p>
          <a:p>
            <a:endParaRPr lang="en-US" sz="4400">
              <a:cs typeface="Times New Roman" panose="02020603050405020304" pitchFamily="18" charset="0"/>
            </a:endParaRPr>
          </a:p>
        </p:txBody>
      </p:sp>
      <p:pic>
        <p:nvPicPr>
          <p:cNvPr id="26" name="Picture 25" descr="A map of the united states&#10;&#10;AI-generated content may be incorrect.">
            <a:extLst>
              <a:ext uri="{FF2B5EF4-FFF2-40B4-BE49-F238E27FC236}">
                <a16:creationId xmlns:a16="http://schemas.microsoft.com/office/drawing/2014/main" id="{34AA1B94-F45B-C43F-CF64-0F3C94CD7F4F}"/>
              </a:ext>
            </a:extLst>
          </p:cNvPr>
          <p:cNvPicPr>
            <a:picLocks noChangeAspect="1"/>
          </p:cNvPicPr>
          <p:nvPr/>
        </p:nvPicPr>
        <p:blipFill rotWithShape="1">
          <a:blip r:embed="rId4">
            <a:extLst>
              <a:ext uri="{28A0092B-C50C-407E-A947-70E740481C1C}">
                <a14:useLocalDpi xmlns:a14="http://schemas.microsoft.com/office/drawing/2010/main" val="0"/>
              </a:ext>
            </a:extLst>
          </a:blip>
          <a:srcRect l="5460" t="7106" r="6839" b="6196"/>
          <a:stretch>
            <a:fillRect/>
          </a:stretch>
        </p:blipFill>
        <p:spPr bwMode="auto">
          <a:xfrm>
            <a:off x="11655938" y="25474952"/>
            <a:ext cx="14351619" cy="9158647"/>
          </a:xfrm>
          <a:prstGeom prst="rect">
            <a:avLst/>
          </a:prstGeom>
          <a:ln>
            <a:noFill/>
          </a:ln>
          <a:extLst>
            <a:ext uri="{53640926-AAD7-44D8-BBD7-CCE9431645EC}">
              <a14:shadowObscured xmlns:a14="http://schemas.microsoft.com/office/drawing/2010/main"/>
            </a:ext>
          </a:extLst>
        </p:spPr>
      </p:pic>
      <p:sp>
        <p:nvSpPr>
          <p:cNvPr id="30" name="TextBox 29">
            <a:extLst>
              <a:ext uri="{FF2B5EF4-FFF2-40B4-BE49-F238E27FC236}">
                <a16:creationId xmlns:a16="http://schemas.microsoft.com/office/drawing/2014/main" id="{8D59F5FD-5EE4-3665-CE04-B5DA87FB96DC}"/>
              </a:ext>
            </a:extLst>
          </p:cNvPr>
          <p:cNvSpPr txBox="1"/>
          <p:nvPr/>
        </p:nvSpPr>
        <p:spPr>
          <a:xfrm>
            <a:off x="12099483" y="34728066"/>
            <a:ext cx="14205831" cy="1200329"/>
          </a:xfrm>
          <a:prstGeom prst="rect">
            <a:avLst/>
          </a:prstGeom>
          <a:noFill/>
        </p:spPr>
        <p:txBody>
          <a:bodyPr wrap="square">
            <a:spAutoFit/>
          </a:bodyPr>
          <a:lstStyle/>
          <a:p>
            <a:r>
              <a:rPr lang="en-US" sz="3600" b="1">
                <a:effectLst/>
                <a:ea typeface="Aptos" panose="020B0004020202020204" pitchFamily="34" charset="0"/>
                <a:cs typeface="Times New Roman" panose="02020603050405020304" pitchFamily="18" charset="0"/>
              </a:rPr>
              <a:t>Figure 2.</a:t>
            </a:r>
            <a:r>
              <a:rPr lang="en-US" sz="3600">
                <a:effectLst/>
                <a:ea typeface="Aptos" panose="020B0004020202020204" pitchFamily="34" charset="0"/>
                <a:cs typeface="Times New Roman" panose="02020603050405020304" pitchFamily="18" charset="0"/>
              </a:rPr>
              <a:t> </a:t>
            </a:r>
            <a:r>
              <a:rPr lang="en-US" sz="3600" i="1">
                <a:effectLst/>
                <a:ea typeface="Aptos" panose="020B0004020202020204" pitchFamily="34" charset="0"/>
                <a:cs typeface="Times New Roman" panose="02020603050405020304" pitchFamily="18" charset="0"/>
              </a:rPr>
              <a:t>U.S. County-Level Map of Opioid Prescribing Intensity (2022)</a:t>
            </a:r>
            <a:br>
              <a:rPr lang="en-US" sz="3600">
                <a:effectLst/>
                <a:ea typeface="Aptos" panose="020B0004020202020204" pitchFamily="34" charset="0"/>
                <a:cs typeface="Times New Roman" panose="02020603050405020304" pitchFamily="18" charset="0"/>
              </a:rPr>
            </a:br>
            <a:endParaRPr lang="en-US" sz="3600">
              <a:cs typeface="Times New Roman" panose="02020603050405020304" pitchFamily="18" charset="0"/>
            </a:endParaRPr>
          </a:p>
        </p:txBody>
      </p:sp>
      <p:sp>
        <p:nvSpPr>
          <p:cNvPr id="31" name="TextBox 30">
            <a:extLst>
              <a:ext uri="{FF2B5EF4-FFF2-40B4-BE49-F238E27FC236}">
                <a16:creationId xmlns:a16="http://schemas.microsoft.com/office/drawing/2014/main" id="{FF9DA34B-284A-9809-7167-28B3E72619B0}"/>
              </a:ext>
            </a:extLst>
          </p:cNvPr>
          <p:cNvSpPr txBox="1"/>
          <p:nvPr/>
        </p:nvSpPr>
        <p:spPr>
          <a:xfrm>
            <a:off x="13688292" y="36279567"/>
            <a:ext cx="12319265" cy="5509200"/>
          </a:xfrm>
          <a:prstGeom prst="rect">
            <a:avLst/>
          </a:prstGeom>
          <a:noFill/>
        </p:spPr>
        <p:txBody>
          <a:bodyPr wrap="square" rtlCol="0">
            <a:spAutoFit/>
          </a:bodyPr>
          <a:lstStyle/>
          <a:p>
            <a:pPr marL="571500" indent="-571500">
              <a:buFont typeface="Arial" panose="020B0604020202020204" pitchFamily="34" charset="0"/>
              <a:buChar char="•"/>
            </a:pPr>
            <a:r>
              <a:rPr lang="en-US" sz="4400">
                <a:cs typeface="Times New Roman" panose="02020603050405020304" pitchFamily="18" charset="0"/>
              </a:rPr>
              <a:t>In </a:t>
            </a:r>
            <a:r>
              <a:rPr lang="en-US" sz="4400" b="1">
                <a:cs typeface="Times New Roman" panose="02020603050405020304" pitchFamily="18" charset="0"/>
              </a:rPr>
              <a:t>Figure 1</a:t>
            </a:r>
            <a:r>
              <a:rPr lang="en-US" sz="4400">
                <a:cs typeface="Times New Roman" panose="02020603050405020304" pitchFamily="18" charset="0"/>
              </a:rPr>
              <a:t>, a consistent decline is visible, from 6.0 to below 4.0 opioid prescriptions per beneficiary.</a:t>
            </a:r>
          </a:p>
          <a:p>
            <a:pPr marL="571500" indent="-571500">
              <a:buFont typeface="Arial" panose="020B0604020202020204" pitchFamily="34" charset="0"/>
              <a:buChar char="•"/>
            </a:pPr>
            <a:r>
              <a:rPr lang="en-US" sz="4400">
                <a:cs typeface="Times New Roman" panose="02020603050405020304" pitchFamily="18" charset="0"/>
              </a:rPr>
              <a:t>This 35% drop suggests national policy shifts may be taking effect.</a:t>
            </a:r>
          </a:p>
          <a:p>
            <a:pPr marL="571500" indent="-571500">
              <a:buFont typeface="Arial" panose="020B0604020202020204" pitchFamily="34" charset="0"/>
              <a:buChar char="•"/>
            </a:pPr>
            <a:r>
              <a:rPr lang="en-US" sz="4400" b="1"/>
              <a:t>Figure 2</a:t>
            </a:r>
            <a:r>
              <a:rPr lang="en-US" sz="4400"/>
              <a:t> displays opioid prescribing intensity by county across the U.S.</a:t>
            </a:r>
          </a:p>
          <a:p>
            <a:pPr marL="571500" indent="-571500">
              <a:buFont typeface="Arial" panose="020B0604020202020204" pitchFamily="34" charset="0"/>
              <a:buChar char="•"/>
            </a:pPr>
            <a:r>
              <a:rPr lang="en-US" sz="4400"/>
              <a:t>Counties ranked by highest to lowest prescribing rate (yellow&gt;red&gt;purple *gray=missing data)</a:t>
            </a:r>
          </a:p>
        </p:txBody>
      </p:sp>
      <p:sp>
        <p:nvSpPr>
          <p:cNvPr id="32" name="TextBox 31">
            <a:extLst>
              <a:ext uri="{FF2B5EF4-FFF2-40B4-BE49-F238E27FC236}">
                <a16:creationId xmlns:a16="http://schemas.microsoft.com/office/drawing/2014/main" id="{AACF1A62-7FF5-F4A7-8E9F-88555091FBB3}"/>
              </a:ext>
            </a:extLst>
          </p:cNvPr>
          <p:cNvSpPr txBox="1"/>
          <p:nvPr/>
        </p:nvSpPr>
        <p:spPr>
          <a:xfrm>
            <a:off x="27408845" y="18479341"/>
            <a:ext cx="10379189" cy="8894743"/>
          </a:xfrm>
          <a:prstGeom prst="rect">
            <a:avLst/>
          </a:prstGeom>
          <a:noFill/>
        </p:spPr>
        <p:txBody>
          <a:bodyPr wrap="square" rtlCol="0">
            <a:spAutoFit/>
          </a:bodyPr>
          <a:lstStyle/>
          <a:p>
            <a:pPr marL="571500" indent="-571500">
              <a:buFont typeface="Arial" panose="020B0604020202020204" pitchFamily="34" charset="0"/>
              <a:buChar char="•"/>
            </a:pPr>
            <a:r>
              <a:rPr lang="en-US" sz="4400"/>
              <a:t>Significant opioid prescribing disparities exist across counties and states.</a:t>
            </a:r>
          </a:p>
          <a:p>
            <a:pPr marL="571500" indent="-571500">
              <a:buFont typeface="Arial" panose="020B0604020202020204" pitchFamily="34" charset="0"/>
              <a:buChar char="•"/>
            </a:pPr>
            <a:r>
              <a:rPr lang="en-US" sz="4400"/>
              <a:t>County-level data highlights areas of overuse or unmet care needs.</a:t>
            </a:r>
          </a:p>
          <a:p>
            <a:pPr marL="571500" indent="-571500">
              <a:buFont typeface="Arial" panose="020B0604020202020204" pitchFamily="34" charset="0"/>
              <a:buChar char="•"/>
            </a:pPr>
            <a:r>
              <a:rPr lang="en-US" sz="4400"/>
              <a:t>LIS concentration strongly correlates with higher prescribing intensity.</a:t>
            </a:r>
          </a:p>
          <a:p>
            <a:pPr marL="571500" indent="-571500">
              <a:buFont typeface="Arial" panose="020B0604020202020204" pitchFamily="34" charset="0"/>
              <a:buChar char="•"/>
            </a:pPr>
            <a:r>
              <a:rPr lang="en-US" sz="4400"/>
              <a:t>Gaps in data pose risks to accurate local surveillance efforts.</a:t>
            </a:r>
          </a:p>
          <a:p>
            <a:pPr marL="571500" indent="-571500">
              <a:buFont typeface="Arial" panose="020B0604020202020204" pitchFamily="34" charset="0"/>
              <a:buChar char="•"/>
            </a:pPr>
            <a:r>
              <a:rPr lang="en-US" sz="4400"/>
              <a:t>Spatial tools and normalization allow for equitable comparisons across regions.</a:t>
            </a:r>
          </a:p>
          <a:p>
            <a:pPr marL="571500" indent="-571500">
              <a:buFont typeface="Arial" panose="020B0604020202020204" pitchFamily="34" charset="0"/>
              <a:buChar char="•"/>
            </a:pPr>
            <a:r>
              <a:rPr lang="en-US" sz="4400"/>
              <a:t>Older adults should be central to opioid surveillance and response planning.</a:t>
            </a:r>
          </a:p>
          <a:p>
            <a:endParaRPr lang="en-US" sz="4400"/>
          </a:p>
        </p:txBody>
      </p:sp>
      <p:sp>
        <p:nvSpPr>
          <p:cNvPr id="33" name="TextBox 32">
            <a:extLst>
              <a:ext uri="{FF2B5EF4-FFF2-40B4-BE49-F238E27FC236}">
                <a16:creationId xmlns:a16="http://schemas.microsoft.com/office/drawing/2014/main" id="{0AF81E8B-BD86-0008-D4F8-2EFA4BEA6E2D}"/>
              </a:ext>
            </a:extLst>
          </p:cNvPr>
          <p:cNvSpPr txBox="1"/>
          <p:nvPr/>
        </p:nvSpPr>
        <p:spPr>
          <a:xfrm>
            <a:off x="27408845" y="37093269"/>
            <a:ext cx="10422731" cy="5509200"/>
          </a:xfrm>
          <a:prstGeom prst="rect">
            <a:avLst/>
          </a:prstGeom>
          <a:noFill/>
        </p:spPr>
        <p:txBody>
          <a:bodyPr wrap="square" rtlCol="0">
            <a:spAutoFit/>
          </a:bodyPr>
          <a:lstStyle/>
          <a:p>
            <a:pPr marL="571500" indent="-571500">
              <a:buFont typeface="Arial" panose="020B0604020202020204" pitchFamily="34" charset="0"/>
              <a:buChar char="•"/>
            </a:pPr>
            <a:r>
              <a:rPr lang="en-US" sz="4400" dirty="0"/>
              <a:t>Dr. Jeane Silva for project mentorship and guidance throughout the research.</a:t>
            </a:r>
          </a:p>
          <a:p>
            <a:pPr marL="571500" indent="-571500">
              <a:buFont typeface="Arial" panose="020B0604020202020204" pitchFamily="34" charset="0"/>
              <a:buChar char="•"/>
            </a:pPr>
            <a:r>
              <a:rPr lang="en-US" sz="4400" dirty="0"/>
              <a:t>CMS for providing publicly available Medicare Part D data used in this analysis.</a:t>
            </a:r>
          </a:p>
          <a:p>
            <a:pPr marL="571500" indent="-571500">
              <a:buFont typeface="Arial" panose="020B0604020202020204" pitchFamily="34" charset="0"/>
              <a:buChar char="•"/>
            </a:pPr>
            <a:r>
              <a:rPr lang="en-US" sz="4400" dirty="0"/>
              <a:t>Dr. </a:t>
            </a:r>
            <a:r>
              <a:rPr lang="en-US" sz="4400"/>
              <a:t>Andrew Balas and the Augusta University School of Public Health for their support.</a:t>
            </a:r>
            <a:endParaRPr lang="en-US" sz="4400" dirty="0"/>
          </a:p>
          <a:p>
            <a:endParaRPr lang="en-US" sz="4400" dirty="0"/>
          </a:p>
        </p:txBody>
      </p:sp>
      <p:sp>
        <p:nvSpPr>
          <p:cNvPr id="34" name="TextBox 33">
            <a:extLst>
              <a:ext uri="{FF2B5EF4-FFF2-40B4-BE49-F238E27FC236}">
                <a16:creationId xmlns:a16="http://schemas.microsoft.com/office/drawing/2014/main" id="{73FB4804-C438-9401-62E7-6753224B92CF}"/>
              </a:ext>
            </a:extLst>
          </p:cNvPr>
          <p:cNvSpPr txBox="1"/>
          <p:nvPr/>
        </p:nvSpPr>
        <p:spPr>
          <a:xfrm>
            <a:off x="27519090" y="28605604"/>
            <a:ext cx="10379189" cy="6863417"/>
          </a:xfrm>
          <a:prstGeom prst="rect">
            <a:avLst/>
          </a:prstGeom>
          <a:noFill/>
        </p:spPr>
        <p:txBody>
          <a:bodyPr wrap="square" rtlCol="0">
            <a:spAutoFit/>
          </a:bodyPr>
          <a:lstStyle/>
          <a:p>
            <a:pPr marL="571500" indent="-571500">
              <a:buFont typeface="Arial" panose="020B0604020202020204" pitchFamily="34" charset="0"/>
              <a:buChar char="•"/>
            </a:pPr>
            <a:r>
              <a:rPr lang="en-US" sz="4400" dirty="0"/>
              <a:t>Alexander &amp; Saloner, 2020 – </a:t>
            </a:r>
            <a:r>
              <a:rPr lang="en-US" sz="4400" i="1" dirty="0"/>
              <a:t>JAMA Network Open</a:t>
            </a:r>
          </a:p>
          <a:p>
            <a:pPr marL="571500" indent="-571500">
              <a:buFont typeface="Arial" panose="020B0604020202020204" pitchFamily="34" charset="0"/>
              <a:buChar char="•"/>
            </a:pPr>
            <a:r>
              <a:rPr lang="en-US" sz="4400" dirty="0"/>
              <a:t>Chan &amp; Miller, 2022 – </a:t>
            </a:r>
            <a:r>
              <a:rPr lang="en-US" sz="4400" i="1" dirty="0"/>
              <a:t>Frontiers in Public Health</a:t>
            </a:r>
          </a:p>
          <a:p>
            <a:pPr marL="571500" indent="-571500">
              <a:buFont typeface="Arial" panose="020B0604020202020204" pitchFamily="34" charset="0"/>
              <a:buChar char="•"/>
            </a:pPr>
            <a:r>
              <a:rPr lang="en-US" sz="4400" dirty="0"/>
              <a:t>CMS, 2024 – </a:t>
            </a:r>
            <a:r>
              <a:rPr lang="en-US" sz="4400" i="1" dirty="0"/>
              <a:t>Medicare Part D Public Use File</a:t>
            </a:r>
          </a:p>
          <a:p>
            <a:pPr marL="571500" indent="-571500">
              <a:buFont typeface="Arial" panose="020B0604020202020204" pitchFamily="34" charset="0"/>
              <a:buChar char="•"/>
            </a:pPr>
            <a:r>
              <a:rPr lang="en-US" sz="4400" dirty="0"/>
              <a:t>Essien et al., 2021 – </a:t>
            </a:r>
            <a:r>
              <a:rPr lang="en-US" sz="4400" i="1" dirty="0"/>
              <a:t>JAMA Health Forum</a:t>
            </a:r>
          </a:p>
          <a:p>
            <a:pPr marL="571500" indent="-571500">
              <a:buFont typeface="Arial" panose="020B0604020202020204" pitchFamily="34" charset="0"/>
              <a:buChar char="•"/>
            </a:pPr>
            <a:r>
              <a:rPr lang="en-US" sz="4400" dirty="0"/>
              <a:t>Wickham, 2016; </a:t>
            </a:r>
            <a:r>
              <a:rPr lang="en-US" sz="4400" dirty="0" err="1"/>
              <a:t>Pebesma</a:t>
            </a:r>
            <a:r>
              <a:rPr lang="en-US" sz="4400" dirty="0"/>
              <a:t>, 2018 – </a:t>
            </a:r>
            <a:r>
              <a:rPr lang="en-US" sz="4400" i="1" dirty="0"/>
              <a:t>R packages and geospatial tools</a:t>
            </a:r>
            <a:endParaRPr lang="en-US" sz="4400" dirty="0"/>
          </a:p>
          <a:p>
            <a:endParaRPr lang="en-US" sz="4400" dirty="0"/>
          </a:p>
        </p:txBody>
      </p:sp>
      <p:sp>
        <p:nvSpPr>
          <p:cNvPr id="36" name="TextBox 35">
            <a:extLst>
              <a:ext uri="{FF2B5EF4-FFF2-40B4-BE49-F238E27FC236}">
                <a16:creationId xmlns:a16="http://schemas.microsoft.com/office/drawing/2014/main" id="{37920625-64EE-8D9C-97E3-02367B8309A7}"/>
              </a:ext>
            </a:extLst>
          </p:cNvPr>
          <p:cNvSpPr txBox="1"/>
          <p:nvPr/>
        </p:nvSpPr>
        <p:spPr>
          <a:xfrm>
            <a:off x="27629328" y="5953852"/>
            <a:ext cx="10514955" cy="10926068"/>
          </a:xfrm>
          <a:prstGeom prst="rect">
            <a:avLst/>
          </a:prstGeom>
          <a:noFill/>
        </p:spPr>
        <p:txBody>
          <a:bodyPr wrap="square">
            <a:spAutoFit/>
          </a:bodyPr>
          <a:lstStyle/>
          <a:p>
            <a:pPr marL="571500" indent="-571500">
              <a:buFont typeface="Arial" panose="020B0604020202020204" pitchFamily="34" charset="0"/>
              <a:buChar char="•"/>
            </a:pPr>
            <a:r>
              <a:rPr lang="en-US" sz="4400" dirty="0"/>
              <a:t>Southeastern and Appalachian regions showed the most intense prescribing clusters.</a:t>
            </a:r>
          </a:p>
          <a:p>
            <a:pPr marL="571500" indent="-571500">
              <a:buFont typeface="Arial" panose="020B0604020202020204" pitchFamily="34" charset="0"/>
              <a:buChar char="•"/>
            </a:pPr>
            <a:r>
              <a:rPr lang="en-US" sz="4400" dirty="0"/>
              <a:t>Western and rural counties had many white (missing or suppressed) areas.</a:t>
            </a:r>
          </a:p>
          <a:p>
            <a:pPr marL="571500" indent="-571500">
              <a:buFont typeface="Arial" panose="020B0604020202020204" pitchFamily="34" charset="0"/>
              <a:buChar char="•"/>
            </a:pPr>
            <a:r>
              <a:rPr lang="en-US" sz="4400" dirty="0"/>
              <a:t>This spatial map reveals stark regional disparities not seen in state averages.</a:t>
            </a:r>
          </a:p>
          <a:p>
            <a:pPr marL="571500" indent="-571500">
              <a:buFont typeface="Arial" panose="020B0604020202020204" pitchFamily="34" charset="0"/>
              <a:buChar char="•"/>
            </a:pPr>
            <a:r>
              <a:rPr lang="en-US" sz="4400" dirty="0"/>
              <a:t>Some counties may lack non-opioid options or pain management resources.</a:t>
            </a:r>
          </a:p>
          <a:p>
            <a:pPr marL="571500" indent="-571500">
              <a:buFont typeface="Arial" panose="020B0604020202020204" pitchFamily="34" charset="0"/>
              <a:buChar char="•"/>
            </a:pPr>
            <a:r>
              <a:rPr lang="en-US" sz="4400" dirty="0"/>
              <a:t>Missing data disproportionately affect rural and underserved areas, limiting visibility.</a:t>
            </a:r>
          </a:p>
          <a:p>
            <a:pPr marL="571500" indent="-571500">
              <a:buFont typeface="Arial" panose="020B0604020202020204" pitchFamily="34" charset="0"/>
              <a:buChar char="•"/>
            </a:pPr>
            <a:r>
              <a:rPr lang="en-US" sz="4400" dirty="0"/>
              <a:t>Together, these figures illustrate both national progress and local disparities.</a:t>
            </a:r>
          </a:p>
          <a:p>
            <a:pPr marL="571500" indent="-571500">
              <a:buFont typeface="Arial" panose="020B0604020202020204" pitchFamily="34" charset="0"/>
              <a:buChar char="•"/>
            </a:pPr>
            <a:r>
              <a:rPr lang="en-US" sz="4400" dirty="0"/>
              <a:t>High-risk counties can be prioritized for intervention and further investigation.</a:t>
            </a:r>
          </a:p>
        </p:txBody>
      </p:sp>
      <p:sp>
        <p:nvSpPr>
          <p:cNvPr id="10" name="TextBox 9">
            <a:extLst>
              <a:ext uri="{FF2B5EF4-FFF2-40B4-BE49-F238E27FC236}">
                <a16:creationId xmlns:a16="http://schemas.microsoft.com/office/drawing/2014/main" id="{EB675B7D-2D6C-57F3-47B8-D2879273C010}"/>
              </a:ext>
            </a:extLst>
          </p:cNvPr>
          <p:cNvSpPr txBox="1"/>
          <p:nvPr/>
        </p:nvSpPr>
        <p:spPr>
          <a:xfrm>
            <a:off x="17969482" y="22798267"/>
            <a:ext cx="4827456" cy="646331"/>
          </a:xfrm>
          <a:prstGeom prst="rect">
            <a:avLst/>
          </a:prstGeom>
          <a:noFill/>
        </p:spPr>
        <p:txBody>
          <a:bodyPr wrap="square" rtlCol="0">
            <a:spAutoFit/>
          </a:bodyPr>
          <a:lstStyle/>
          <a:p>
            <a:r>
              <a:rPr lang="en-US" sz="3600">
                <a:solidFill>
                  <a:schemeClr val="tx2"/>
                </a:solidFill>
              </a:rPr>
              <a:t>Calendar Year</a:t>
            </a:r>
          </a:p>
        </p:txBody>
      </p:sp>
      <p:sp>
        <p:nvSpPr>
          <p:cNvPr id="20" name="TextBox 19">
            <a:extLst>
              <a:ext uri="{FF2B5EF4-FFF2-40B4-BE49-F238E27FC236}">
                <a16:creationId xmlns:a16="http://schemas.microsoft.com/office/drawing/2014/main" id="{7E621CF6-C362-2BCF-D906-90869DC897CB}"/>
              </a:ext>
            </a:extLst>
          </p:cNvPr>
          <p:cNvSpPr txBox="1"/>
          <p:nvPr/>
        </p:nvSpPr>
        <p:spPr>
          <a:xfrm rot="16200000">
            <a:off x="8061248" y="15487722"/>
            <a:ext cx="8420767" cy="646331"/>
          </a:xfrm>
          <a:prstGeom prst="rect">
            <a:avLst/>
          </a:prstGeom>
          <a:noFill/>
        </p:spPr>
        <p:txBody>
          <a:bodyPr wrap="none" rtlCol="0">
            <a:spAutoFit/>
          </a:bodyPr>
          <a:lstStyle/>
          <a:p>
            <a:r>
              <a:rPr lang="en-US" sz="3600">
                <a:solidFill>
                  <a:schemeClr val="tx2"/>
                </a:solidFill>
              </a:rPr>
              <a:t>Prescribing Rate (Rx per 1,000 beneficiaries)</a:t>
            </a:r>
          </a:p>
        </p:txBody>
      </p:sp>
      <p:pic>
        <p:nvPicPr>
          <p:cNvPr id="22" name="Picture 21" descr="A graph of a number of percent&#10;&#10;AI-generated content may be incorrect.">
            <a:extLst>
              <a:ext uri="{FF2B5EF4-FFF2-40B4-BE49-F238E27FC236}">
                <a16:creationId xmlns:a16="http://schemas.microsoft.com/office/drawing/2014/main" id="{B63D1E91-480A-7135-AF4C-0E5E43550146}"/>
              </a:ext>
            </a:extLst>
          </p:cNvPr>
          <p:cNvPicPr>
            <a:picLocks noChangeAspect="1"/>
          </p:cNvPicPr>
          <p:nvPr/>
        </p:nvPicPr>
        <p:blipFill>
          <a:blip r:embed="rId5">
            <a:extLst>
              <a:ext uri="{28A0092B-C50C-407E-A947-70E740481C1C}">
                <a14:useLocalDpi xmlns:a14="http://schemas.microsoft.com/office/drawing/2010/main" val="0"/>
              </a:ext>
            </a:extLst>
          </a:blip>
          <a:srcRect r="5367" b="1925"/>
          <a:stretch>
            <a:fillRect/>
          </a:stretch>
        </p:blipFill>
        <p:spPr>
          <a:xfrm>
            <a:off x="25063663" y="28946882"/>
            <a:ext cx="2108278" cy="2564953"/>
          </a:xfrm>
          <a:prstGeom prst="rect">
            <a:avLst/>
          </a:prstGeom>
        </p:spPr>
      </p:pic>
      <p:sp>
        <p:nvSpPr>
          <p:cNvPr id="6" name="TextBox 5">
            <a:extLst>
              <a:ext uri="{FF2B5EF4-FFF2-40B4-BE49-F238E27FC236}">
                <a16:creationId xmlns:a16="http://schemas.microsoft.com/office/drawing/2014/main" id="{756CB27A-63FC-785E-B079-9CC737EF6EC4}"/>
              </a:ext>
            </a:extLst>
          </p:cNvPr>
          <p:cNvSpPr txBox="1"/>
          <p:nvPr/>
        </p:nvSpPr>
        <p:spPr>
          <a:xfrm>
            <a:off x="573224" y="42480180"/>
            <a:ext cx="37727824" cy="1323439"/>
          </a:xfrm>
          <a:prstGeom prst="rect">
            <a:avLst/>
          </a:prstGeom>
          <a:noFill/>
        </p:spPr>
        <p:txBody>
          <a:bodyPr wrap="square">
            <a:spAutoFit/>
          </a:bodyPr>
          <a:lstStyle/>
          <a:p>
            <a:r>
              <a:rPr lang="en-US" sz="4000" dirty="0">
                <a:solidFill>
                  <a:schemeClr val="bg1"/>
                </a:solidFill>
              </a:rPr>
              <a:t>This poster has been adapted from an academic capstone project. University branding has been removed, and the analysis is presented for educational and portfolio purposes using publicly available CMS Medicare Part D data.</a:t>
            </a:r>
          </a:p>
        </p:txBody>
      </p:sp>
    </p:spTree>
    <p:extLst>
      <p:ext uri="{BB962C8B-B14F-4D97-AF65-F5344CB8AC3E}">
        <p14:creationId xmlns:p14="http://schemas.microsoft.com/office/powerpoint/2010/main" val="36547363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F7AA6BBD838146A00D6C6FC7ADEDB6" ma:contentTypeVersion="8" ma:contentTypeDescription="Create a new document." ma:contentTypeScope="" ma:versionID="ce6ebd6a30331bea8c29e9142d7aabfe">
  <xsd:schema xmlns:xsd="http://www.w3.org/2001/XMLSchema" xmlns:xs="http://www.w3.org/2001/XMLSchema" xmlns:p="http://schemas.microsoft.com/office/2006/metadata/properties" xmlns:ns2="91c42061-487b-46c6-9517-fb7d509aa8e2" targetNamespace="http://schemas.microsoft.com/office/2006/metadata/properties" ma:root="true" ma:fieldsID="03eb26b9bc274cc457d0bacf7da79b3b" ns2:_="">
    <xsd:import namespace="91c42061-487b-46c6-9517-fb7d509aa8e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c42061-487b-46c6-9517-fb7d509aa8e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8772C38-02AC-4397-8CD1-D8DDFBFDE7F6}">
  <ds:schemaRefs>
    <ds:schemaRef ds:uri="http://schemas.microsoft.com/sharepoint/v3/contenttype/forms"/>
  </ds:schemaRefs>
</ds:datastoreItem>
</file>

<file path=customXml/itemProps2.xml><?xml version="1.0" encoding="utf-8"?>
<ds:datastoreItem xmlns:ds="http://schemas.openxmlformats.org/officeDocument/2006/customXml" ds:itemID="{D335877A-42C7-44AA-AEC3-4C4C38A1796F}">
  <ds:schemaRefs>
    <ds:schemaRef ds:uri="91c42061-487b-46c6-9517-fb7d509aa8e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679AB12-C3B6-42F5-802F-D9F892327599}">
  <ds:schemaRefs>
    <ds:schemaRef ds:uri="http://purl.org/dc/elements/1.1/"/>
    <ds:schemaRef ds:uri="http://schemas.microsoft.com/office/2006/metadata/properties"/>
    <ds:schemaRef ds:uri="http://purl.org/dc/terms/"/>
    <ds:schemaRef ds:uri="91c42061-487b-46c6-9517-fb7d509aa8e2"/>
    <ds:schemaRef ds:uri="http://purl.org/dc/dcmitype/"/>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Office Theme</Template>
  <TotalTime>9</TotalTime>
  <Words>705</Words>
  <Application>Microsoft Macintosh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Arial</vt:lpstr>
      <vt:lpstr>Calibri</vt:lpstr>
      <vt:lpstr>Calibri Light</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Dent, Elena</dc:creator>
  <cp:lastModifiedBy>Josiah Barnes</cp:lastModifiedBy>
  <cp:revision>5</cp:revision>
  <dcterms:created xsi:type="dcterms:W3CDTF">2023-02-13T21:52:46Z</dcterms:created>
  <dcterms:modified xsi:type="dcterms:W3CDTF">2026-07-14T00:38:23Z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0x01010039F7AA6BBD838146A00D6C6FC7ADEDB6</vt:lpwstr>
  </property>
</Properties>
</file>