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6"/>
  </p:notesMasterIdLst>
  <p:sldIdLst>
    <p:sldId id="256" r:id="rId5"/>
  </p:sldIdLst>
  <p:sldSz cx="384048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80"/>
    <p:restoredTop sz="94714"/>
  </p:normalViewPr>
  <p:slideViewPr>
    <p:cSldViewPr snapToGrid="0">
      <p:cViewPr>
        <p:scale>
          <a:sx n="30" d="100"/>
          <a:sy n="30" d="100"/>
        </p:scale>
        <p:origin x="1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A3F7C-1D15-0745-A580-FF5017D9F57E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78038" y="1143000"/>
            <a:ext cx="2701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4A1D58-84B2-9B4E-BEE8-A63F96663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1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4A1D58-84B2-9B4E-BEE8-A63F966632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774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7183123"/>
            <a:ext cx="32644080" cy="15280640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23053043"/>
            <a:ext cx="28803600" cy="10596877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2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330" y="10942333"/>
            <a:ext cx="33124140" cy="18257517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0330" y="29372573"/>
            <a:ext cx="33124140" cy="9601197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/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75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660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0330" y="11684000"/>
            <a:ext cx="1632204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42430" y="11684000"/>
            <a:ext cx="1632204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5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336810"/>
            <a:ext cx="33124140" cy="848360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5336" y="10759443"/>
            <a:ext cx="16247028" cy="5273037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45336" y="16032480"/>
            <a:ext cx="1624702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42432" y="10759443"/>
            <a:ext cx="16327042" cy="5273037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42432" y="16032480"/>
            <a:ext cx="16327042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61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93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01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926080"/>
            <a:ext cx="12386548" cy="1024128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7042" y="6319530"/>
            <a:ext cx="19442430" cy="31191200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13167360"/>
            <a:ext cx="12386548" cy="24394163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03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926080"/>
            <a:ext cx="12386548" cy="1024128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27042" y="6319530"/>
            <a:ext cx="19442430" cy="31191200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13167360"/>
            <a:ext cx="12386548" cy="24394163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51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1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483437" y="2336800"/>
            <a:ext cx="8281035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0332" y="2336800"/>
            <a:ext cx="24363045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93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0330" y="2336810"/>
            <a:ext cx="3312414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0330" y="11684000"/>
            <a:ext cx="3312414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0330" y="40680650"/>
            <a:ext cx="864108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BDC38-0637-4A4F-BCBC-4AF793E02F82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21590" y="40680650"/>
            <a:ext cx="1296162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123390" y="40680650"/>
            <a:ext cx="864108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08924-CCEE-4273-9AC6-45E6F62463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7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0E4B33A-3B9D-4084-8D72-BC443BDBB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561704"/>
              </p:ext>
            </p:extLst>
          </p:nvPr>
        </p:nvGraphicFramePr>
        <p:xfrm>
          <a:off x="0" y="-24631"/>
          <a:ext cx="38404800" cy="5587231"/>
        </p:xfrm>
        <a:graphic>
          <a:graphicData uri="http://schemas.openxmlformats.org/drawingml/2006/table">
            <a:tbl>
              <a:tblPr firstRow="1" bandRow="1">
                <a:solidFill>
                  <a:srgbClr val="002B4C"/>
                </a:solidFill>
                <a:tableStyleId>{5C22544A-7EE6-4342-B048-85BDC9FD1C3A}</a:tableStyleId>
              </a:tblPr>
              <a:tblGrid>
                <a:gridCol w="38404800">
                  <a:extLst>
                    <a:ext uri="{9D8B030D-6E8A-4147-A177-3AD203B41FA5}">
                      <a16:colId xmlns:a16="http://schemas.microsoft.com/office/drawing/2014/main" val="2889544333"/>
                    </a:ext>
                  </a:extLst>
                </a:gridCol>
              </a:tblGrid>
              <a:tr h="5587231">
                <a:tc>
                  <a:txBody>
                    <a:bodyPr/>
                    <a:lstStyle/>
                    <a:p>
                      <a:endParaRPr lang="en-US" sz="1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840" marR="116840" marT="58420" marB="5842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495196"/>
                  </a:ext>
                </a:extLst>
              </a:tr>
            </a:tbl>
          </a:graphicData>
        </a:graphic>
      </p:graphicFrame>
      <p:sp>
        <p:nvSpPr>
          <p:cNvPr id="5" name="Title 3">
            <a:extLst>
              <a:ext uri="{FF2B5EF4-FFF2-40B4-BE49-F238E27FC236}">
                <a16:creationId xmlns:a16="http://schemas.microsoft.com/office/drawing/2014/main" id="{507B32C9-99ED-40ED-A94A-3AFE27F001C8}"/>
              </a:ext>
            </a:extLst>
          </p:cNvPr>
          <p:cNvSpPr>
            <a:spLocks/>
          </p:cNvSpPr>
          <p:nvPr/>
        </p:nvSpPr>
        <p:spPr bwMode="auto">
          <a:xfrm>
            <a:off x="60209" y="-100108"/>
            <a:ext cx="38084073" cy="4557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5521" tIns="417757" rIns="835521" bIns="417757" anchor="t"/>
          <a:lstStyle/>
          <a:p>
            <a:pPr>
              <a:spcBef>
                <a:spcPts val="1533"/>
              </a:spcBef>
              <a:spcAft>
                <a:spcPts val="1533"/>
              </a:spcAft>
            </a:pPr>
            <a:r>
              <a:rPr lang="en-US" sz="9600" b="1" dirty="0">
                <a:solidFill>
                  <a:srgbClr val="FFFFFF"/>
                </a:solidFill>
                <a:cs typeface="Times New Roman" panose="02020603050405020304" pitchFamily="18" charset="0"/>
              </a:rPr>
              <a:t>Analyzing Medicare Part D Opioid Prescribing Patterns Across the United States</a:t>
            </a:r>
          </a:p>
          <a:p>
            <a:pPr>
              <a:spcBef>
                <a:spcPts val="1533"/>
              </a:spcBef>
              <a:spcAft>
                <a:spcPts val="1533"/>
              </a:spcAft>
            </a:pPr>
            <a:r>
              <a:rPr lang="en-US" sz="4800" dirty="0">
                <a:solidFill>
                  <a:srgbClr val="FFFFFF"/>
                </a:solidFill>
                <a:cs typeface="Times New Roman" panose="02020603050405020304" pitchFamily="18" charset="0"/>
              </a:rPr>
              <a:t>Josiah Barnes </a:t>
            </a:r>
          </a:p>
          <a:p>
            <a:pPr>
              <a:spcBef>
                <a:spcPts val="1533"/>
              </a:spcBef>
              <a:spcAft>
                <a:spcPts val="1533"/>
              </a:spcAft>
            </a:pPr>
            <a:endParaRPr lang="en-US" sz="9966" dirty="0">
              <a:solidFill>
                <a:srgbClr val="FFFFFF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9A48E5-0A96-4E5B-ACA6-D4D44170FC7F}"/>
              </a:ext>
            </a:extLst>
          </p:cNvPr>
          <p:cNvSpPr txBox="1"/>
          <p:nvPr/>
        </p:nvSpPr>
        <p:spPr>
          <a:xfrm>
            <a:off x="506521" y="28830694"/>
            <a:ext cx="10166084" cy="1167630"/>
          </a:xfrm>
          <a:prstGeom prst="rect">
            <a:avLst/>
          </a:prstGeom>
          <a:solidFill>
            <a:srgbClr val="0070C0"/>
          </a:solidFill>
        </p:spPr>
        <p:txBody>
          <a:bodyPr wrap="square" lIns="181669" tIns="90835" rIns="181669" bIns="90835" rtlCol="0">
            <a:spAutoFit/>
          </a:bodyPr>
          <a:lstStyle/>
          <a:p>
            <a:pPr algn="ctr"/>
            <a:r>
              <a:rPr lang="en-US" sz="6200" b="1">
                <a:solidFill>
                  <a:srgbClr val="FFFFFF"/>
                </a:solidFill>
                <a:cs typeface="Times New Roman" panose="02020603050405020304" pitchFamily="18" charset="0"/>
              </a:rPr>
              <a:t>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0FB9C-9DD1-4687-9661-7B4C73BD225A}"/>
              </a:ext>
            </a:extLst>
          </p:cNvPr>
          <p:cNvSpPr txBox="1"/>
          <p:nvPr/>
        </p:nvSpPr>
        <p:spPr>
          <a:xfrm>
            <a:off x="27408846" y="17158452"/>
            <a:ext cx="10379188" cy="1137551"/>
          </a:xfrm>
          <a:prstGeom prst="rect">
            <a:avLst/>
          </a:prstGeom>
          <a:solidFill>
            <a:srgbClr val="0070C0"/>
          </a:solidFill>
        </p:spPr>
        <p:txBody>
          <a:bodyPr wrap="square" lIns="181669" tIns="90835" rIns="181669" bIns="90835" rtlCol="0" anchor="t">
            <a:spAutoFit/>
          </a:bodyPr>
          <a:lstStyle/>
          <a:p>
            <a:pPr algn="ctr"/>
            <a:r>
              <a:rPr lang="en-US" sz="6200" b="1">
                <a:solidFill>
                  <a:schemeClr val="bg1"/>
                </a:solidFill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E63B92-C95B-46A8-A99D-493598DD3428}"/>
              </a:ext>
            </a:extLst>
          </p:cNvPr>
          <p:cNvSpPr txBox="1"/>
          <p:nvPr/>
        </p:nvSpPr>
        <p:spPr>
          <a:xfrm>
            <a:off x="506524" y="5812663"/>
            <a:ext cx="10268950" cy="1137551"/>
          </a:xfrm>
          <a:prstGeom prst="rect">
            <a:avLst/>
          </a:prstGeom>
          <a:solidFill>
            <a:srgbClr val="0070C0"/>
          </a:solidFill>
        </p:spPr>
        <p:txBody>
          <a:bodyPr wrap="square" lIns="181669" tIns="90835" rIns="181669" bIns="90835" rtlCol="0" anchor="t">
            <a:spAutoFit/>
          </a:bodyPr>
          <a:lstStyle/>
          <a:p>
            <a:pPr algn="ctr"/>
            <a:r>
              <a:rPr lang="en-US" sz="6200" b="1">
                <a:solidFill>
                  <a:schemeClr val="bg1"/>
                </a:solidFill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0BBB5-680A-4250-B536-7F297F90E319}"/>
              </a:ext>
            </a:extLst>
          </p:cNvPr>
          <p:cNvSpPr txBox="1"/>
          <p:nvPr/>
        </p:nvSpPr>
        <p:spPr>
          <a:xfrm>
            <a:off x="13688292" y="5855139"/>
            <a:ext cx="12018842" cy="1137551"/>
          </a:xfrm>
          <a:prstGeom prst="rect">
            <a:avLst/>
          </a:prstGeom>
          <a:solidFill>
            <a:srgbClr val="0070C0"/>
          </a:solidFill>
        </p:spPr>
        <p:txBody>
          <a:bodyPr wrap="square" lIns="181669" tIns="90835" rIns="181669" bIns="90835" rtlCol="0" anchor="t">
            <a:spAutoFit/>
          </a:bodyPr>
          <a:lstStyle/>
          <a:p>
            <a:pPr algn="ctr"/>
            <a:r>
              <a:rPr lang="en-US" sz="6200" b="1">
                <a:solidFill>
                  <a:schemeClr val="bg1"/>
                </a:solidFill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8B5163-1C79-4AFA-8D71-792829F71176}"/>
              </a:ext>
            </a:extLst>
          </p:cNvPr>
          <p:cNvSpPr txBox="1"/>
          <p:nvPr/>
        </p:nvSpPr>
        <p:spPr>
          <a:xfrm>
            <a:off x="27408845" y="35272582"/>
            <a:ext cx="10514955" cy="1137551"/>
          </a:xfrm>
          <a:prstGeom prst="rect">
            <a:avLst/>
          </a:prstGeom>
          <a:solidFill>
            <a:srgbClr val="0070C0"/>
          </a:solidFill>
        </p:spPr>
        <p:txBody>
          <a:bodyPr wrap="square" lIns="181669" tIns="90835" rIns="181669" bIns="90835" rtlCol="0" anchor="t">
            <a:spAutoFit/>
          </a:bodyPr>
          <a:lstStyle/>
          <a:p>
            <a:pPr algn="ctr"/>
            <a:r>
              <a:rPr lang="en-US" sz="6200" b="1">
                <a:solidFill>
                  <a:schemeClr val="bg1"/>
                </a:solidFill>
                <a:cs typeface="Times New Roman" panose="02020603050405020304" pitchFamily="18" charset="0"/>
              </a:rPr>
              <a:t>ACKNOWLEDGEMENTS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1DB460-602A-46E9-BCB5-600BD4A9D3F0}"/>
              </a:ext>
            </a:extLst>
          </p:cNvPr>
          <p:cNvSpPr txBox="1"/>
          <p:nvPr/>
        </p:nvSpPr>
        <p:spPr>
          <a:xfrm>
            <a:off x="27544611" y="27092126"/>
            <a:ext cx="10379189" cy="1137551"/>
          </a:xfrm>
          <a:prstGeom prst="rect">
            <a:avLst/>
          </a:prstGeom>
          <a:solidFill>
            <a:srgbClr val="0070C0"/>
          </a:solidFill>
        </p:spPr>
        <p:txBody>
          <a:bodyPr wrap="square" lIns="181669" tIns="90835" rIns="181669" bIns="90835" rtlCol="0" anchor="t">
            <a:spAutoFit/>
          </a:bodyPr>
          <a:lstStyle/>
          <a:p>
            <a:pPr algn="ctr"/>
            <a:r>
              <a:rPr lang="en-US" sz="6200" b="1">
                <a:solidFill>
                  <a:schemeClr val="bg1"/>
                </a:solidFill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7B0ED9-D396-4363-ACAD-6B48D1FFB2CC}"/>
              </a:ext>
            </a:extLst>
          </p:cNvPr>
          <p:cNvSpPr txBox="1"/>
          <p:nvPr/>
        </p:nvSpPr>
        <p:spPr>
          <a:xfrm>
            <a:off x="557953" y="17468510"/>
            <a:ext cx="10166084" cy="1137551"/>
          </a:xfrm>
          <a:prstGeom prst="rect">
            <a:avLst/>
          </a:prstGeom>
          <a:solidFill>
            <a:srgbClr val="0070C0"/>
          </a:solidFill>
        </p:spPr>
        <p:txBody>
          <a:bodyPr wrap="square" lIns="181669" tIns="90835" rIns="181669" bIns="90835" rtlCol="0">
            <a:spAutoFit/>
          </a:bodyPr>
          <a:lstStyle/>
          <a:p>
            <a:pPr algn="ctr"/>
            <a:r>
              <a:rPr lang="en-US" sz="6200" b="1">
                <a:solidFill>
                  <a:srgbClr val="FFFFFF"/>
                </a:solidFill>
                <a:cs typeface="Times New Roman" panose="02020603050405020304" pitchFamily="18" charset="0"/>
              </a:rPr>
              <a:t>HYPOTHESIS &amp;/OR OBJECTIVE</a:t>
            </a: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4688C2DD-0D39-425E-A768-D7A326B3D3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391908"/>
              </p:ext>
            </p:extLst>
          </p:nvPr>
        </p:nvGraphicFramePr>
        <p:xfrm>
          <a:off x="0" y="42245280"/>
          <a:ext cx="38404800" cy="1793240"/>
        </p:xfrm>
        <a:graphic>
          <a:graphicData uri="http://schemas.openxmlformats.org/drawingml/2006/table">
            <a:tbl>
              <a:tblPr firstRow="1" bandRow="1">
                <a:solidFill>
                  <a:srgbClr val="002B4C"/>
                </a:solidFill>
                <a:tableStyleId>{5C22544A-7EE6-4342-B048-85BDC9FD1C3A}</a:tableStyleId>
              </a:tblPr>
              <a:tblGrid>
                <a:gridCol w="38404800">
                  <a:extLst>
                    <a:ext uri="{9D8B030D-6E8A-4147-A177-3AD203B41FA5}">
                      <a16:colId xmlns:a16="http://schemas.microsoft.com/office/drawing/2014/main" val="2889544333"/>
                    </a:ext>
                  </a:extLst>
                </a:gridCol>
              </a:tblGrid>
              <a:tr h="1782720">
                <a:tc>
                  <a:txBody>
                    <a:bodyPr/>
                    <a:lstStyle/>
                    <a:p>
                      <a:endParaRPr lang="en-US" sz="110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16840" marR="116840" marT="58420" marB="58420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4951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01B9B01-3B68-9251-92C9-20AFDEB8234E}"/>
              </a:ext>
            </a:extLst>
          </p:cNvPr>
          <p:cNvSpPr txBox="1"/>
          <p:nvPr/>
        </p:nvSpPr>
        <p:spPr>
          <a:xfrm>
            <a:off x="363440" y="7036621"/>
            <a:ext cx="10268950" cy="10310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The opioid epidemic disproportionately impacts older adults and is underrepresented in surveillance data.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Medicare Part D offers an opportunity to evaluate opioid prescribing among seniors.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Older adults often have chronic pain and multiple medication exposures.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Analyzing geographic trends can uncover disparities in opioid prescribing practices.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 Mapping and visualization </a:t>
            </a:r>
            <a:r>
              <a:rPr lang="en-US" sz="4800">
                <a:cs typeface="Times New Roman" panose="02020603050405020304" pitchFamily="18" charset="0"/>
              </a:rPr>
              <a:t>tools</a:t>
            </a:r>
            <a:r>
              <a:rPr lang="en-US" sz="4400">
                <a:cs typeface="Times New Roman" panose="02020603050405020304" pitchFamily="18" charset="0"/>
              </a:rPr>
              <a:t> are useful for identifying regional variations in prescribing patterns.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The data used can inform local interventions and public health priorities.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A36484-0CD9-A96B-D60B-2E5A437BA85B}"/>
              </a:ext>
            </a:extLst>
          </p:cNvPr>
          <p:cNvSpPr txBox="1"/>
          <p:nvPr/>
        </p:nvSpPr>
        <p:spPr>
          <a:xfrm>
            <a:off x="557954" y="18567807"/>
            <a:ext cx="10166083" cy="1092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cs typeface="Times New Roman" panose="02020603050405020304" pitchFamily="18" charset="0"/>
              </a:rPr>
              <a:t>Research Question: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How do opioid prescribing rates vary across U.S. counties?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What demographic or structural factors explain geographic disparities in prescribing?</a:t>
            </a:r>
          </a:p>
          <a:p>
            <a:r>
              <a:rPr lang="en-US" sz="4400" b="1">
                <a:cs typeface="Times New Roman" panose="02020603050405020304" pitchFamily="18" charset="0"/>
              </a:rPr>
              <a:t>Objectives</a:t>
            </a:r>
            <a:r>
              <a:rPr lang="en-US" sz="4400">
                <a:cs typeface="Times New Roman" panose="02020603050405020304" pitchFamily="18" charset="0"/>
              </a:rPr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Quantify opioid prescribing rates by county for older beneficiaries.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Identify counties significantly above or below the national average rates.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Analyze how income, rurality, race, and education influence trends.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Create visualizations to support data-driven public health strategies.</a:t>
            </a:r>
          </a:p>
          <a:p>
            <a:endParaRPr lang="en-US" sz="4400"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27A43A-0206-8444-0B9C-A20C89BDE984}"/>
              </a:ext>
            </a:extLst>
          </p:cNvPr>
          <p:cNvSpPr txBox="1"/>
          <p:nvPr/>
        </p:nvSpPr>
        <p:spPr>
          <a:xfrm>
            <a:off x="506521" y="30024396"/>
            <a:ext cx="10268950" cy="1295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 Observational retrospective study using Medicare Part D claims data (2013–2023).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Population: Beneficiaries aged 65+ who filled at least one opioid prescription.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Key variables: Claims, total beneficiaries, drug costs, LIS cost share.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Prescribing rate calculated per 1,000 beneficiaries per county annually.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Missing or suppressed values were excluded from aggregate county analyses.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R used for analysis (</a:t>
            </a:r>
            <a:r>
              <a:rPr lang="en-US" sz="4400" err="1">
                <a:cs typeface="Times New Roman" panose="02020603050405020304" pitchFamily="18" charset="0"/>
              </a:rPr>
              <a:t>dplyr</a:t>
            </a:r>
            <a:r>
              <a:rPr lang="en-US" sz="4400">
                <a:cs typeface="Times New Roman" panose="02020603050405020304" pitchFamily="18" charset="0"/>
              </a:rPr>
              <a:t>, ggplot2, </a:t>
            </a:r>
            <a:r>
              <a:rPr lang="en-US" sz="4400" err="1">
                <a:cs typeface="Times New Roman" panose="02020603050405020304" pitchFamily="18" charset="0"/>
              </a:rPr>
              <a:t>tmap</a:t>
            </a:r>
            <a:r>
              <a:rPr lang="en-US" sz="4400">
                <a:cs typeface="Times New Roman" panose="02020603050405020304" pitchFamily="18" charset="0"/>
              </a:rPr>
              <a:t>, sf packages).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County shapefiles joined using FIPS codes for spatial visualization.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Data validated through manual checks and documentation of transformations.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Analysis included maps, bar graphs, and trendlines by year.</a:t>
            </a:r>
          </a:p>
          <a:p>
            <a:endParaRPr lang="en-US" sz="4400">
              <a:cs typeface="Times New Roman" panose="02020603050405020304" pitchFamily="18" charset="0"/>
            </a:endParaRPr>
          </a:p>
        </p:txBody>
      </p:sp>
      <p:pic>
        <p:nvPicPr>
          <p:cNvPr id="19" name="Picture 18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3F7D3F11-C65B-649E-9D03-5DD4CF5D7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5" t="6494" r="1221" b="4500"/>
          <a:stretch>
            <a:fillRect/>
          </a:stretch>
        </p:blipFill>
        <p:spPr>
          <a:xfrm>
            <a:off x="12697665" y="10301845"/>
            <a:ext cx="13009469" cy="1252525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698F362-39DD-9F43-63A7-73E03CC61356}"/>
              </a:ext>
            </a:extLst>
          </p:cNvPr>
          <p:cNvSpPr txBox="1"/>
          <p:nvPr/>
        </p:nvSpPr>
        <p:spPr>
          <a:xfrm>
            <a:off x="13065131" y="23415768"/>
            <a:ext cx="122745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Figure 1.</a:t>
            </a:r>
            <a:r>
              <a:rPr lang="en-US" sz="36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Average Opioid Prescribing Rate by Year (2013–2023)</a:t>
            </a:r>
            <a:r>
              <a:rPr lang="en-US" sz="3600" i="1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>
                <a:ea typeface="Aptos" panose="020B0004020202020204" pitchFamily="34" charset="0"/>
                <a:cs typeface="Times New Roman" panose="02020603050405020304" pitchFamily="18" charset="0"/>
              </a:rPr>
              <a:t>[ </a:t>
            </a:r>
            <a:r>
              <a:rPr lang="en-US" sz="36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Red line indicates national average; black dots represent annual data points</a:t>
            </a:r>
            <a:r>
              <a:rPr lang="en-US" sz="3600"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B39519-25A9-C803-4435-B09B8F24CB29}"/>
              </a:ext>
            </a:extLst>
          </p:cNvPr>
          <p:cNvSpPr txBox="1"/>
          <p:nvPr/>
        </p:nvSpPr>
        <p:spPr>
          <a:xfrm>
            <a:off x="13688292" y="7284181"/>
            <a:ext cx="1201884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Over 3,000 U.S. counties met inclusion criteria for this analysis.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Approximately 10–15% of counties were excluded due to suppressed data.</a:t>
            </a:r>
          </a:p>
          <a:p>
            <a:endParaRPr lang="en-US" sz="4400">
              <a:cs typeface="Times New Roman" panose="02020603050405020304" pitchFamily="18" charset="0"/>
            </a:endParaRPr>
          </a:p>
        </p:txBody>
      </p:sp>
      <p:pic>
        <p:nvPicPr>
          <p:cNvPr id="26" name="Picture 25" descr="A map of the united states&#10;&#10;AI-generated content may be incorrect.">
            <a:extLst>
              <a:ext uri="{FF2B5EF4-FFF2-40B4-BE49-F238E27FC236}">
                <a16:creationId xmlns:a16="http://schemas.microsoft.com/office/drawing/2014/main" id="{34AA1B94-F45B-C43F-CF64-0F3C94CD7F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0" t="7106" r="6839" b="6196"/>
          <a:stretch>
            <a:fillRect/>
          </a:stretch>
        </p:blipFill>
        <p:spPr bwMode="auto">
          <a:xfrm>
            <a:off x="11655938" y="25474952"/>
            <a:ext cx="14351619" cy="91586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D59F5FD-5EE4-3665-CE04-B5DA87FB96DC}"/>
              </a:ext>
            </a:extLst>
          </p:cNvPr>
          <p:cNvSpPr txBox="1"/>
          <p:nvPr/>
        </p:nvSpPr>
        <p:spPr>
          <a:xfrm>
            <a:off x="12099483" y="34728066"/>
            <a:ext cx="142058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Figure 2.</a:t>
            </a:r>
            <a:r>
              <a:rPr lang="en-US" sz="36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3600" i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U.S. County-Level Map of Opioid Prescribing Intensity (2022)</a:t>
            </a:r>
            <a:br>
              <a:rPr lang="en-US" sz="360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3600"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9DA34B-284A-9809-7167-28B3E72619B0}"/>
              </a:ext>
            </a:extLst>
          </p:cNvPr>
          <p:cNvSpPr txBox="1"/>
          <p:nvPr/>
        </p:nvSpPr>
        <p:spPr>
          <a:xfrm>
            <a:off x="13688292" y="36279567"/>
            <a:ext cx="1231926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In </a:t>
            </a:r>
            <a:r>
              <a:rPr lang="en-US" sz="4400" b="1">
                <a:cs typeface="Times New Roman" panose="02020603050405020304" pitchFamily="18" charset="0"/>
              </a:rPr>
              <a:t>Figure 1</a:t>
            </a:r>
            <a:r>
              <a:rPr lang="en-US" sz="4400">
                <a:cs typeface="Times New Roman" panose="02020603050405020304" pitchFamily="18" charset="0"/>
              </a:rPr>
              <a:t>, a consistent decline is visible, from 6.0 to below 4.0 opioid prescriptions per beneficiary.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>
                <a:cs typeface="Times New Roman" panose="02020603050405020304" pitchFamily="18" charset="0"/>
              </a:rPr>
              <a:t>This 35% drop suggests national policy shifts may be taking effect.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b="1"/>
              <a:t>Figure 2</a:t>
            </a:r>
            <a:r>
              <a:rPr lang="en-US" sz="4400"/>
              <a:t> displays opioid prescribing intensity by county across the U.S.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Counties ranked by highest to lowest prescribing rate (yellow&gt;red&gt;purple *gray=missing data)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CF1A62-7FF5-F4A7-8E9F-88555091FBB3}"/>
              </a:ext>
            </a:extLst>
          </p:cNvPr>
          <p:cNvSpPr txBox="1"/>
          <p:nvPr/>
        </p:nvSpPr>
        <p:spPr>
          <a:xfrm>
            <a:off x="27408845" y="18479341"/>
            <a:ext cx="10379189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Significant opioid prescribing disparities exist across counties and states.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County-level data highlights areas of overuse or unmet care needs.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LIS concentration strongly correlates with higher prescribing intensity.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Gaps in data pose risks to accurate local surveillance efforts.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Spatial tools and normalization allow for equitable comparisons across regions.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/>
              <a:t>Older adults should be central to opioid surveillance and response planning.</a:t>
            </a:r>
          </a:p>
          <a:p>
            <a:endParaRPr lang="en-US" sz="4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F81E8B-BD86-0008-D4F8-2EFA4BEA6E2D}"/>
              </a:ext>
            </a:extLst>
          </p:cNvPr>
          <p:cNvSpPr txBox="1"/>
          <p:nvPr/>
        </p:nvSpPr>
        <p:spPr>
          <a:xfrm>
            <a:off x="27408845" y="37093269"/>
            <a:ext cx="1042273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Dr. Jeane Silva for project mentorship and guidance throughout the research.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CMS for providing publicly available Medicare Part D data used in this analysis.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Dr. </a:t>
            </a:r>
            <a:r>
              <a:rPr lang="en-US" sz="4400"/>
              <a:t>Andrew Balas and the Augusta University School of Public Health for their support.</a:t>
            </a:r>
            <a:endParaRPr lang="en-US" sz="4400" dirty="0"/>
          </a:p>
          <a:p>
            <a:endParaRPr lang="en-US" sz="4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FB4804-C438-9401-62E7-6753224B92CF}"/>
              </a:ext>
            </a:extLst>
          </p:cNvPr>
          <p:cNvSpPr txBox="1"/>
          <p:nvPr/>
        </p:nvSpPr>
        <p:spPr>
          <a:xfrm>
            <a:off x="27519090" y="28605604"/>
            <a:ext cx="1037918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Alexander &amp; Saloner, 2020 – </a:t>
            </a:r>
            <a:r>
              <a:rPr lang="en-US" sz="4400" i="1" dirty="0"/>
              <a:t>JAMA Network Open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Chan &amp; Miller, 2022 – </a:t>
            </a:r>
            <a:r>
              <a:rPr lang="en-US" sz="4400" i="1" dirty="0"/>
              <a:t>Frontiers in Public Health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CMS, 2024 – </a:t>
            </a:r>
            <a:r>
              <a:rPr lang="en-US" sz="4400" i="1" dirty="0"/>
              <a:t>Medicare Part D Public Use File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Essien et al., 2021 – </a:t>
            </a:r>
            <a:r>
              <a:rPr lang="en-US" sz="4400" i="1" dirty="0"/>
              <a:t>JAMA Health Forum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Wickham, 2016; </a:t>
            </a:r>
            <a:r>
              <a:rPr lang="en-US" sz="4400" dirty="0" err="1"/>
              <a:t>Pebesma</a:t>
            </a:r>
            <a:r>
              <a:rPr lang="en-US" sz="4400" dirty="0"/>
              <a:t>, 2018 – </a:t>
            </a:r>
            <a:r>
              <a:rPr lang="en-US" sz="4400" i="1" dirty="0"/>
              <a:t>R packages and geospatial tools</a:t>
            </a:r>
            <a:endParaRPr lang="en-US" sz="4400" dirty="0"/>
          </a:p>
          <a:p>
            <a:endParaRPr lang="en-US" sz="4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920625-64EE-8D9C-97E3-02367B8309A7}"/>
              </a:ext>
            </a:extLst>
          </p:cNvPr>
          <p:cNvSpPr txBox="1"/>
          <p:nvPr/>
        </p:nvSpPr>
        <p:spPr>
          <a:xfrm>
            <a:off x="27629328" y="5953852"/>
            <a:ext cx="10514955" cy="10926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Southeastern and Appalachian regions showed the most intense prescribing clusters.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Western and rural counties had many white (missing or suppressed) areas.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This spatial map reveals stark regional disparities not seen in state averages.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Some counties may lack non-opioid options or pain management resources.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Missing data disproportionately affect rural and underserved areas, limiting visibility.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Together, these figures illustrate both national progress and local disparities.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High-risk counties can be prioritized for intervention and further investigation.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75B7D-2D6C-57F3-47B8-D2879273C010}"/>
              </a:ext>
            </a:extLst>
          </p:cNvPr>
          <p:cNvSpPr txBox="1"/>
          <p:nvPr/>
        </p:nvSpPr>
        <p:spPr>
          <a:xfrm>
            <a:off x="17969482" y="22798267"/>
            <a:ext cx="4827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Calendar Year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621CF6-C362-2BCF-D906-90869DC897CB}"/>
              </a:ext>
            </a:extLst>
          </p:cNvPr>
          <p:cNvSpPr txBox="1"/>
          <p:nvPr/>
        </p:nvSpPr>
        <p:spPr>
          <a:xfrm rot="16200000">
            <a:off x="8061248" y="15487722"/>
            <a:ext cx="842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Prescribing Rate (Rx per 1,000 beneficiaries)</a:t>
            </a:r>
          </a:p>
        </p:txBody>
      </p:sp>
      <p:pic>
        <p:nvPicPr>
          <p:cNvPr id="22" name="Picture 21" descr="A graph of a number of percent&#10;&#10;AI-generated content may be incorrect.">
            <a:extLst>
              <a:ext uri="{FF2B5EF4-FFF2-40B4-BE49-F238E27FC236}">
                <a16:creationId xmlns:a16="http://schemas.microsoft.com/office/drawing/2014/main" id="{B63D1E91-480A-7135-AF4C-0E5E435501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7" b="1925"/>
          <a:stretch>
            <a:fillRect/>
          </a:stretch>
        </p:blipFill>
        <p:spPr>
          <a:xfrm>
            <a:off x="25063663" y="28946882"/>
            <a:ext cx="2108278" cy="256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3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F7AA6BBD838146A00D6C6FC7ADEDB6" ma:contentTypeVersion="8" ma:contentTypeDescription="Create a new document." ma:contentTypeScope="" ma:versionID="ce6ebd6a30331bea8c29e9142d7aabfe">
  <xsd:schema xmlns:xsd="http://www.w3.org/2001/XMLSchema" xmlns:xs="http://www.w3.org/2001/XMLSchema" xmlns:p="http://schemas.microsoft.com/office/2006/metadata/properties" xmlns:ns2="91c42061-487b-46c6-9517-fb7d509aa8e2" targetNamespace="http://schemas.microsoft.com/office/2006/metadata/properties" ma:root="true" ma:fieldsID="03eb26b9bc274cc457d0bacf7da79b3b" ns2:_="">
    <xsd:import namespace="91c42061-487b-46c6-9517-fb7d509aa8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c42061-487b-46c6-9517-fb7d509aa8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79AB12-C3B6-42F5-802F-D9F892327599}">
  <ds:schemaRefs>
    <ds:schemaRef ds:uri="http://purl.org/dc/elements/1.1/"/>
    <ds:schemaRef ds:uri="http://schemas.microsoft.com/office/2006/metadata/properties"/>
    <ds:schemaRef ds:uri="http://purl.org/dc/terms/"/>
    <ds:schemaRef ds:uri="91c42061-487b-46c6-9517-fb7d509aa8e2"/>
    <ds:schemaRef ds:uri="http://purl.org/dc/dcmitype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D335877A-42C7-44AA-AEC3-4C4C38A1796F}">
  <ds:schemaRefs>
    <ds:schemaRef ds:uri="91c42061-487b-46c6-9517-fb7d509aa8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8772C38-02AC-4397-8CD1-D8DDFBFDE7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669</Words>
  <Application>Microsoft Macintosh PowerPoint</Application>
  <PresentationFormat>Custom</PresentationFormat>
  <Paragraphs>64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Dent, Elena</dc:creator>
  <cp:lastModifiedBy>Josiah Barnes</cp:lastModifiedBy>
  <cp:revision>4</cp:revision>
  <dcterms:created xsi:type="dcterms:W3CDTF">2023-02-13T21:52:46Z</dcterms:created>
  <dcterms:modified xsi:type="dcterms:W3CDTF">2026-07-14T00:33:25Z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0x01010039F7AA6BBD838146A00D6C6FC7ADEDB6</vt:lpwstr>
  </property>
</Properties>
</file>